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4" r:id="rId3"/>
    <p:sldId id="262" r:id="rId4"/>
    <p:sldId id="265" r:id="rId5"/>
    <p:sldId id="266" r:id="rId6"/>
    <p:sldId id="267" r:id="rId7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>
        <p:scale>
          <a:sx n="84" d="100"/>
          <a:sy n="84" d="100"/>
        </p:scale>
        <p:origin x="1832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2C78E-1185-EBBE-FF86-3B8C0D075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97848A-D0E8-03ED-069E-2100787C0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533E9-AC21-D485-547B-CE57A6488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6D3EA-78F5-E843-9A30-FE4D80B7B058}" type="datetimeFigureOut">
              <a:rPr lang="en-FI" smtClean="0"/>
              <a:t>28.11.2025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5BAC8-E521-3946-33F1-6656B7FD4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87678-AB70-4B87-EB8D-BA13B9439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DF7F-E743-084D-BCF1-A99BEE653CA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3228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2CAAC-6E64-82A2-8C2D-439239819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E0A0C-94EE-A35C-6672-0CA3385F5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1EFCF-DF70-FBB0-5F52-38692FF6F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6D3EA-78F5-E843-9A30-FE4D80B7B058}" type="datetimeFigureOut">
              <a:rPr lang="en-FI" smtClean="0"/>
              <a:t>28.11.2025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934BF-8D05-E04B-9A68-4953F84CF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E2240-7A31-1070-B4D4-80FEEACDC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DF7F-E743-084D-BCF1-A99BEE653CA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839741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C97FE-8B91-A306-F630-D6297FCBD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11D5-B15A-2EDE-7424-9E2BC3496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A16E7-C98E-ACDE-7050-9548C7B2A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6D3EA-78F5-E843-9A30-FE4D80B7B058}" type="datetimeFigureOut">
              <a:rPr lang="en-FI" smtClean="0"/>
              <a:t>28.11.2025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42F1A-7A8A-316D-52AA-D2DC73F04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0B5C6-3077-6B24-8410-182CC5616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DF7F-E743-084D-BCF1-A99BEE653CA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86344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565F3-E19C-D49C-7A2F-24829C46D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147D7-14EB-BE13-A3EC-852A5FAC7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E9081-DC94-D8D4-32E2-516B4A67E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FFDA3-C3E3-5370-8532-7BE5AAC60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6D3EA-78F5-E843-9A30-FE4D80B7B058}" type="datetimeFigureOut">
              <a:rPr lang="en-FI" smtClean="0"/>
              <a:t>28.11.2025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16549-FDE5-CCE8-1E49-2ED3BADE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7A9E8-A9EB-CB7A-08B3-A52DB2C67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DF7F-E743-084D-BCF1-A99BEE653CA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26934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FEF6-BFE6-D0C8-B918-49DB36046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41C33-2D76-7859-DD0D-BB200C9BA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7EBF94-9C14-87A1-0065-B4C78FA71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84F81B-FF7E-C179-4B0F-26444F29A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CCABEC-91CF-F739-228F-3ABDB1BCCB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D42D5E-6EDC-DFAA-9E8A-A14ACF105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6D3EA-78F5-E843-9A30-FE4D80B7B058}" type="datetimeFigureOut">
              <a:rPr lang="en-FI" smtClean="0"/>
              <a:t>28.11.2025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747768-37D4-DB33-434B-2C0EC20AE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97D187-7E62-2ADD-5B48-ED83A54D3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DF7F-E743-084D-BCF1-A99BEE653CA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8395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CBE91-91F1-C427-9BC8-B77822419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01D10E-069F-BAD9-9143-B7DACB731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6D3EA-78F5-E843-9A30-FE4D80B7B058}" type="datetimeFigureOut">
              <a:rPr lang="en-FI" smtClean="0"/>
              <a:t>28.11.2025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37804C-2F1A-1628-09C3-520C46E6C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6ACA8-2AC2-7DC1-2794-7BDCB3D92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DF7F-E743-084D-BCF1-A99BEE653CA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767587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05AE67-7F9C-FF3C-3F79-8410A106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6D3EA-78F5-E843-9A30-FE4D80B7B058}" type="datetimeFigureOut">
              <a:rPr lang="en-FI" smtClean="0"/>
              <a:t>28.11.2025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8603A8-55BF-20BE-FA27-B7035161D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96182-9266-48BD-A1F3-701D283D0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DF7F-E743-084D-BCF1-A99BEE653CA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569901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374F-6906-4AC1-88BA-EDFA989AD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94E15-D597-D288-8C1D-AEC9A547C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4808FE-80FE-B8CE-A490-D4D1E2F90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F303A-5DE5-F172-FFDC-A861F6B6D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6D3EA-78F5-E843-9A30-FE4D80B7B058}" type="datetimeFigureOut">
              <a:rPr lang="en-FI" smtClean="0"/>
              <a:t>28.11.2025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F8DC-83A6-8712-8C96-70F861F4C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56774-19A6-7087-A818-D14B2EC52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DF7F-E743-084D-BCF1-A99BEE653CA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8450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441D6-ED2A-8A2D-EBC1-ED6DB5D13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8C8621-ACA7-5B81-71D5-5C8142ECCD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47FAB-D4F0-ECC8-E2A7-5080BF790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00029-1F70-A5BD-BF78-A6D318F72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6D3EA-78F5-E843-9A30-FE4D80B7B058}" type="datetimeFigureOut">
              <a:rPr lang="en-FI" smtClean="0"/>
              <a:t>28.11.2025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53B4A-746D-FBEA-8DC0-6C1742A8C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935C9-2DF4-8FB2-92C7-6E5A5010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DF7F-E743-084D-BCF1-A99BEE653CA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87360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91F58-DE16-C2DE-4285-2B7FA603F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D03B1-393C-AE1C-DFA0-7D43685CF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F9314-53A5-001A-492B-7C4AEDF4A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6D3EA-78F5-E843-9A30-FE4D80B7B058}" type="datetimeFigureOut">
              <a:rPr lang="en-FI" smtClean="0"/>
              <a:t>28.11.2025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AEE93-752B-D741-0FC3-6FC525874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89A87-785B-A9B3-D4C3-7B5575983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DF7F-E743-084D-BCF1-A99BEE653CA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08581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FDC656-3E41-567F-21BC-B68C172170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632D0-60CC-B171-5579-AD24AE74A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29172-DC4F-2C1C-5602-223359F51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6D3EA-78F5-E843-9A30-FE4D80B7B058}" type="datetimeFigureOut">
              <a:rPr lang="en-FI" smtClean="0"/>
              <a:t>28.11.2025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AAC34-DCA0-1D53-0F56-F2F3FB8A2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5250B-6EFC-C3EC-F521-9389F744F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DF7F-E743-084D-BCF1-A99BEE653CA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409020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E2422F-DFDA-2AC9-7907-6C4AC03D0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0446A-CA7B-607F-E62D-FABE2BEDB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6EBD5-701E-3F28-D672-CE73DABB72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6D3EA-78F5-E843-9A30-FE4D80B7B058}" type="datetimeFigureOut">
              <a:rPr lang="en-FI" smtClean="0"/>
              <a:t>28.11.2025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57BFD-CA4C-B0F7-4ACE-C6AEE9BFF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EA6F5-ED1A-EF3F-53C9-88172B3793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3DF7F-E743-084D-BCF1-A99BEE653CA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71740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203D3-6C7C-DAD2-9995-326279FDD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A84DD2-6C31-DD15-7F38-BAB114AC7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AAD19381-6BE9-D6DD-B4AE-52E135D2C1AD}"/>
              </a:ext>
            </a:extLst>
          </p:cNvPr>
          <p:cNvSpPr txBox="1">
            <a:spLocks/>
          </p:cNvSpPr>
          <p:nvPr/>
        </p:nvSpPr>
        <p:spPr>
          <a:xfrm>
            <a:off x="6590282" y="3469332"/>
            <a:ext cx="5601718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en-GB" sz="2000" dirty="0"/>
              <a:t>Students: Oskari </a:t>
            </a:r>
            <a:r>
              <a:rPr lang="en-GB" sz="2000" dirty="0" err="1"/>
              <a:t>Perikangas</a:t>
            </a:r>
            <a:r>
              <a:rPr lang="en-US" sz="2000" dirty="0"/>
              <a:t>,</a:t>
            </a:r>
            <a:r>
              <a:rPr lang="en-GB" sz="2000" dirty="0"/>
              <a:t> Xiaosi Huang</a:t>
            </a:r>
          </a:p>
          <a:p>
            <a:pPr marL="342900" indent="-342900" algn="l">
              <a:buFontTx/>
              <a:buChar char="-"/>
            </a:pPr>
            <a:r>
              <a:rPr lang="en-GB" sz="2000" dirty="0"/>
              <a:t>Course: DATA.ML.360-2025-2026-1</a:t>
            </a:r>
          </a:p>
          <a:p>
            <a:pPr marL="342900" indent="-342900" algn="l">
              <a:buFontTx/>
              <a:buChar char="-"/>
            </a:pPr>
            <a:r>
              <a:rPr lang="en-GB" sz="2000" dirty="0"/>
              <a:t>Date: November 28, 2025</a:t>
            </a:r>
            <a:endParaRPr lang="en-FI" sz="2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105324A-CE21-7BA2-6F38-3D6512C015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608" y="1028629"/>
            <a:ext cx="10908088" cy="1001712"/>
          </a:xfrm>
        </p:spPr>
        <p:txBody>
          <a:bodyPr>
            <a:noAutofit/>
          </a:bodyPr>
          <a:lstStyle/>
          <a:p>
            <a:r>
              <a:rPr lang="en-GB" sz="4000" b="1" dirty="0"/>
              <a:t>Part IV: Counterfactual Explanations</a:t>
            </a:r>
            <a:br>
              <a:rPr lang="en-GB" sz="4000" b="1" dirty="0"/>
            </a:br>
            <a:r>
              <a:rPr lang="en-GB" sz="4000" b="1" dirty="0"/>
              <a:t>                  for Group Recommendations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9207DE-5E81-2EF9-4501-14027633E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08" y="3473588"/>
            <a:ext cx="5282392" cy="274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024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44D1E-9684-9BB2-3907-507B0D51F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22A2A2-012F-BCEF-72E4-BE04761F6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34"/>
            <a:ext cx="12192000" cy="68587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096E0C-26B2-353E-CB88-40240A4682A3}"/>
              </a:ext>
            </a:extLst>
          </p:cNvPr>
          <p:cNvSpPr txBox="1"/>
          <p:nvPr/>
        </p:nvSpPr>
        <p:spPr>
          <a:xfrm>
            <a:off x="4148389" y="379851"/>
            <a:ext cx="699428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Problem Statement: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🤔</a:t>
            </a:r>
            <a:endParaRPr lang="en-GB" sz="2800" dirty="0"/>
          </a:p>
          <a:p>
            <a:r>
              <a:rPr lang="en-GB" sz="2800" b="1" dirty="0"/>
              <a:t>"If the group had NOT watched items A, </a:t>
            </a:r>
          </a:p>
          <a:p>
            <a:r>
              <a:rPr lang="en-GB" sz="2800" b="1" dirty="0"/>
              <a:t>then item B would NOT be recommended"</a:t>
            </a:r>
            <a:endParaRPr lang="en-GB" sz="2800" dirty="0"/>
          </a:p>
          <a:p>
            <a:endParaRPr lang="en-FI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4070BA-F325-06DD-5890-1A0A4ACDA7CB}"/>
              </a:ext>
            </a:extLst>
          </p:cNvPr>
          <p:cNvSpPr txBox="1"/>
          <p:nvPr/>
        </p:nvSpPr>
        <p:spPr>
          <a:xfrm>
            <a:off x="4148389" y="2104297"/>
            <a:ext cx="71919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Challenge: </a:t>
            </a:r>
          </a:p>
          <a:p>
            <a:r>
              <a:rPr lang="en-GB" sz="2000" b="1" dirty="0"/>
              <a:t>Ensure fairness - no single-user blame in group explanations</a:t>
            </a:r>
            <a:endParaRPr lang="en-FI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06D1F1-3CCE-96D2-3670-52B79D82E900}"/>
              </a:ext>
            </a:extLst>
          </p:cNvPr>
          <p:cNvSpPr txBox="1"/>
          <p:nvPr/>
        </p:nvSpPr>
        <p:spPr>
          <a:xfrm>
            <a:off x="817034" y="3428633"/>
            <a:ext cx="9418027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Technical Stack:</a:t>
            </a:r>
          </a:p>
          <a:p>
            <a:r>
              <a:rPr lang="en-GB" sz="2800" dirty="0"/>
              <a:t>Grow &amp; Prune Algorithm</a:t>
            </a:r>
          </a:p>
          <a:p>
            <a:r>
              <a:rPr lang="en-GB" sz="2800" dirty="0"/>
              <a:t>Pareto Filtering (Multi-objective optimization)</a:t>
            </a:r>
          </a:p>
          <a:p>
            <a:r>
              <a:rPr lang="en-GB" sz="2800" dirty="0"/>
              <a:t>Item-based KNN Recommender</a:t>
            </a:r>
          </a:p>
          <a:p>
            <a:endParaRPr lang="en-GB" sz="2800" dirty="0"/>
          </a:p>
          <a:p>
            <a:r>
              <a:rPr lang="en-GB" sz="2800" dirty="0"/>
              <a:t>4 metrics (recognition, rating, influence, explanatory power) </a:t>
            </a:r>
          </a:p>
          <a:p>
            <a:r>
              <a:rPr lang="en-GB" sz="2800" dirty="0"/>
              <a:t>+ fairness constraint ≥0.67</a:t>
            </a:r>
            <a:endParaRPr lang="en-FI" sz="2800" dirty="0"/>
          </a:p>
        </p:txBody>
      </p:sp>
    </p:spTree>
    <p:extLst>
      <p:ext uri="{BB962C8B-B14F-4D97-AF65-F5344CB8AC3E}">
        <p14:creationId xmlns:p14="http://schemas.microsoft.com/office/powerpoint/2010/main" val="921436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E9323-80D9-948B-B66F-8C876574E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8B73FF-7B8A-3304-BAF3-D5013136C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827333-FC46-FDE4-E44B-33D1E8E55FBA}"/>
              </a:ext>
            </a:extLst>
          </p:cNvPr>
          <p:cNvSpPr txBox="1"/>
          <p:nvPr/>
        </p:nvSpPr>
        <p:spPr>
          <a:xfrm>
            <a:off x="146004" y="3068088"/>
            <a:ext cx="227754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/>
              <a:t>Metrics </a:t>
            </a:r>
          </a:p>
          <a:p>
            <a:r>
              <a:rPr lang="en-GB" sz="3600" b="1" dirty="0"/>
              <a:t>&amp; </a:t>
            </a:r>
          </a:p>
          <a:p>
            <a:r>
              <a:rPr lang="en-GB" sz="3600" b="1" dirty="0"/>
              <a:t>Functions</a:t>
            </a:r>
            <a:endParaRPr lang="en-FI" sz="3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93D98B-1287-0973-E4C3-61A47479E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083" y="122464"/>
            <a:ext cx="9579385" cy="661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297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B9CD6-42EA-B15E-C9CD-C67A23D30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554373-8430-D93F-DE03-5E2C4A9C2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781BF4-9F89-A67B-44B4-ED17CF96FE36}"/>
              </a:ext>
            </a:extLst>
          </p:cNvPr>
          <p:cNvSpPr txBox="1"/>
          <p:nvPr/>
        </p:nvSpPr>
        <p:spPr>
          <a:xfrm>
            <a:off x="1852862" y="120402"/>
            <a:ext cx="10339138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Solution Flow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_</a:t>
            </a:r>
            <a:r>
              <a:rPr lang="zh-CN" altLang="en-US" sz="3200" b="1" dirty="0"/>
              <a:t> </a:t>
            </a:r>
            <a:r>
              <a:rPr lang="en-GB" sz="2400" dirty="0"/>
              <a:t>Input: Group G, Target t, Top-N list L</a:t>
            </a:r>
          </a:p>
          <a:p>
            <a:endParaRPr lang="en-GB" dirty="0"/>
          </a:p>
          <a:p>
            <a:r>
              <a:rPr lang="en-GB" dirty="0"/>
              <a:t>1. Get Candidates</a:t>
            </a:r>
            <a:r>
              <a:rPr lang="zh-CN" altLang="en-US" dirty="0"/>
              <a:t> </a:t>
            </a:r>
            <a:r>
              <a:rPr lang="en-GB" dirty="0"/>
              <a:t>(~1275 movies)</a:t>
            </a:r>
          </a:p>
          <a:p>
            <a:r>
              <a:rPr lang="en-GB" dirty="0"/>
              <a:t>   → Collect all movies rated ≥3.5</a:t>
            </a:r>
            <a:r>
              <a:rPr lang="zh-CN" altLang="en-US" dirty="0"/>
              <a:t> </a:t>
            </a:r>
            <a:r>
              <a:rPr lang="en-GB" dirty="0"/>
              <a:t> by any group member → Remove target item from candidates</a:t>
            </a:r>
          </a:p>
          <a:p>
            <a:endParaRPr lang="en-GB" dirty="0"/>
          </a:p>
          <a:p>
            <a:r>
              <a:rPr lang="en-GB" dirty="0"/>
              <a:t>2. Pareto Filtering (Reduce 1275</a:t>
            </a:r>
            <a:r>
              <a:rPr lang="zh-CN" altLang="en-US" dirty="0"/>
              <a:t> </a:t>
            </a:r>
            <a:r>
              <a:rPr lang="en-GB" dirty="0"/>
              <a:t>movies → 3-5 items)</a:t>
            </a:r>
          </a:p>
          <a:p>
            <a:r>
              <a:rPr lang="en-GB" dirty="0"/>
              <a:t>   ─ Pre-filter: rs≥0.5, rate≥3.5 → 345 items</a:t>
            </a:r>
          </a:p>
          <a:p>
            <a:r>
              <a:rPr lang="en-GB" dirty="0"/>
              <a:t>   ─ Top-50 by rating</a:t>
            </a:r>
          </a:p>
          <a:p>
            <a:r>
              <a:rPr lang="en-GB" dirty="0"/>
              <a:t>   ─ Compute 4 metrics</a:t>
            </a:r>
          </a:p>
          <a:p>
            <a:r>
              <a:rPr lang="en-GB" dirty="0"/>
              <a:t>   └─ Keep non-dominated → 3-5 items</a:t>
            </a:r>
          </a:p>
          <a:p>
            <a:endParaRPr lang="en-GB" dirty="0"/>
          </a:p>
          <a:p>
            <a:r>
              <a:rPr lang="en-GB" dirty="0"/>
              <a:t>3. GROW Phase</a:t>
            </a:r>
            <a:r>
              <a:rPr lang="zh-CN" altLang="en-US" dirty="0"/>
              <a:t> </a:t>
            </a:r>
            <a:r>
              <a:rPr lang="en-GB" dirty="0"/>
              <a:t>(Build explanation)</a:t>
            </a:r>
          </a:p>
          <a:p>
            <a:r>
              <a:rPr lang="en-GB" dirty="0"/>
              <a:t>   ─ Add items iteratively</a:t>
            </a:r>
          </a:p>
          <a:p>
            <a:r>
              <a:rPr lang="en-GB" dirty="0"/>
              <a:t>   ─ Rebuild recommender</a:t>
            </a:r>
          </a:p>
          <a:p>
            <a:r>
              <a:rPr lang="en-GB" dirty="0"/>
              <a:t>   └─ Stop when target disappears</a:t>
            </a:r>
          </a:p>
          <a:p>
            <a:endParaRPr lang="en-GB" dirty="0"/>
          </a:p>
          <a:p>
            <a:r>
              <a:rPr lang="en-GB" dirty="0"/>
              <a:t>4. PRUNE Phase</a:t>
            </a:r>
            <a:r>
              <a:rPr lang="zh-CN" altLang="en-US" dirty="0"/>
              <a:t> </a:t>
            </a:r>
            <a:r>
              <a:rPr lang="en-GB" dirty="0"/>
              <a:t>(Remove redundancy)</a:t>
            </a:r>
          </a:p>
          <a:p>
            <a:r>
              <a:rPr lang="en-GB" dirty="0"/>
              <a:t>   ─ Try removing each item</a:t>
            </a:r>
          </a:p>
          <a:p>
            <a:r>
              <a:rPr lang="en-GB" dirty="0"/>
              <a:t>   └─ Keep only if necessary  ( Drop fairness below 0.67 )</a:t>
            </a:r>
          </a:p>
          <a:p>
            <a:endParaRPr lang="en-GB" dirty="0"/>
          </a:p>
          <a:p>
            <a:r>
              <a:rPr lang="en-GB" dirty="0"/>
              <a:t>5. Output: Minimal fair explanation</a:t>
            </a:r>
          </a:p>
          <a:p>
            <a:r>
              <a:rPr lang="en-GB" dirty="0"/>
              <a:t>                      Example: "If group had NOT watched Full Metal Jacket,</a:t>
            </a:r>
          </a:p>
          <a:p>
            <a:r>
              <a:rPr lang="en-GB" dirty="0"/>
              <a:t>                      then Like Water for Chocolate would NOT be recommended"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59246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581AF-7BF5-1D8C-C3A4-6E588AD03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1B5C5A-3901-045B-C084-877DD4478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4423E2-4ECB-86EF-3C67-F13ED4DE26D6}"/>
              </a:ext>
            </a:extLst>
          </p:cNvPr>
          <p:cNvSpPr txBox="1"/>
          <p:nvPr/>
        </p:nvSpPr>
        <p:spPr>
          <a:xfrm>
            <a:off x="481262" y="252667"/>
            <a:ext cx="4149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Results - Success &amp; Size</a:t>
            </a:r>
            <a:endParaRPr lang="en-FI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D41085-6308-14E4-99C4-A128E86A3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62" y="775887"/>
            <a:ext cx="10168102" cy="36472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F3B7AF-5C65-6C51-D289-5992AD6E5CB4}"/>
              </a:ext>
            </a:extLst>
          </p:cNvPr>
          <p:cNvSpPr txBox="1"/>
          <p:nvPr/>
        </p:nvSpPr>
        <p:spPr>
          <a:xfrm>
            <a:off x="655607" y="3699002"/>
            <a:ext cx="3969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60% success rate (6/10 targets)    </a:t>
            </a:r>
          </a:p>
          <a:p>
            <a:r>
              <a:rPr lang="en-GB" dirty="0"/>
              <a:t> Mean size: 1.50 items (highly concise)</a:t>
            </a:r>
            <a:endParaRPr lang="en-FI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3A3C33-A2CF-49EC-ADE7-C2CD9F9DE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62" y="4548182"/>
            <a:ext cx="6809794" cy="21848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B9FF79-1A27-590E-F93F-26A5C7388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764" y="4589461"/>
            <a:ext cx="30226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71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4EAAE-F28F-B6D9-4481-7736413B6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212C0A-A500-4995-2640-94B6B24D7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64BDAB-79E0-ED0A-3725-4E6E702FECD6}"/>
              </a:ext>
            </a:extLst>
          </p:cNvPr>
          <p:cNvSpPr txBox="1"/>
          <p:nvPr/>
        </p:nvSpPr>
        <p:spPr>
          <a:xfrm>
            <a:off x="380999" y="240633"/>
            <a:ext cx="4185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Results - Quality Metrics</a:t>
            </a:r>
            <a:endParaRPr lang="en-FI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1F798C-9172-372A-902C-E001C7200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763853"/>
            <a:ext cx="11430000" cy="36897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A0B44F-C9D0-0F6C-2BDF-DA12B85C90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328" y="4686197"/>
            <a:ext cx="3579132" cy="193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099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289</Words>
  <Application>Microsoft Macintosh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Part IV: Counterfactual Explanations                   for Group Recommendations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Xiaosi Huang</dc:creator>
  <cp:lastModifiedBy>Xiaosi Huang</cp:lastModifiedBy>
  <cp:revision>1</cp:revision>
  <dcterms:created xsi:type="dcterms:W3CDTF">2025-11-28T17:11:14Z</dcterms:created>
  <dcterms:modified xsi:type="dcterms:W3CDTF">2025-11-28T18:22:37Z</dcterms:modified>
</cp:coreProperties>
</file>