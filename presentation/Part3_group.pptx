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58"/>
  </p:normalViewPr>
  <p:slideViewPr>
    <p:cSldViewPr snapToGrid="0">
      <p:cViewPr varScale="1">
        <p:scale>
          <a:sx n="120" d="100"/>
          <a:sy n="120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DFEE2-3C40-98EB-E2B4-43CA0F0394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5F5BB7-AA99-9DD0-9997-16681E947B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EE440-87E5-02AC-A142-546A61542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58D62-20CA-5A43-A963-90A0786561B3}" type="datetimeFigureOut">
              <a:rPr lang="en-FI" smtClean="0"/>
              <a:t>20.11.2025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E9175-6C62-F842-5ED4-7A467FBF4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96492-3E94-6B58-A68F-EB34130D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EEC0C-325F-E048-8928-FA39941C71CF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985830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6392-02D7-5B33-F762-BDF1BD885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2F9E0-980E-1D98-0EB5-20928881B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22CAF-DC3C-B5E9-9420-AA4343D67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58D62-20CA-5A43-A963-90A0786561B3}" type="datetimeFigureOut">
              <a:rPr lang="en-FI" smtClean="0"/>
              <a:t>20.11.2025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25FEF-964F-940D-7C17-23B617AF7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AB8C6-EAD1-E8DA-9B14-8C5200AFC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EEC0C-325F-E048-8928-FA39941C71CF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059155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BD1C3-7F7B-6A90-60E6-2DFD222BB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7FDCB0-277C-4ADD-9EBB-0F4ACB078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DB8E4-4C56-53D0-8F03-E28005D83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58D62-20CA-5A43-A963-90A0786561B3}" type="datetimeFigureOut">
              <a:rPr lang="en-FI" smtClean="0"/>
              <a:t>20.11.2025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8A3D1-4681-4EFE-FF02-B2B59E9DF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23BAD-A264-6714-4E20-E89ADA20F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EEC0C-325F-E048-8928-FA39941C71CF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141592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4E458-ED24-DD28-086F-2C791AD0D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757EE-70A2-36C9-F5B2-5F52F6C966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0362E-0B20-D9E8-1B43-A886D342A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F6C6E-6A40-CC5A-527F-7E55AC6E7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58D62-20CA-5A43-A963-90A0786561B3}" type="datetimeFigureOut">
              <a:rPr lang="en-FI" smtClean="0"/>
              <a:t>20.11.2025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297F1-E060-F785-2A91-0C90A9B72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9E7283-1F06-6D38-4137-010C88095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EEC0C-325F-E048-8928-FA39941C71CF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90011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C823D-294D-53DD-AF0E-B5DAF10B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04F6C7-2DC9-195A-F69E-0853005CD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748D85-5510-5F58-E1DE-AADA7E78ED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8318B9-4F60-B949-AE3F-FEB02DC40D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A9EDFB-1792-D5CB-19E2-EC28E44B60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D6CEE5-E633-B3E4-BAE8-35C6EFE40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58D62-20CA-5A43-A963-90A0786561B3}" type="datetimeFigureOut">
              <a:rPr lang="en-FI" smtClean="0"/>
              <a:t>20.11.2025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925A63-B6D1-EF85-EC7C-374BD3884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9467FD-43AA-6482-DC9B-6B6CBA2E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EEC0C-325F-E048-8928-FA39941C71CF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204928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2F3DD-1C0A-95A8-85DB-29C47B05B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838CA-F99F-7FA8-A0A7-CB2970986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58D62-20CA-5A43-A963-90A0786561B3}" type="datetimeFigureOut">
              <a:rPr lang="en-FI" smtClean="0"/>
              <a:t>20.11.2025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0766CD-2A4C-FC46-0699-0C57851A0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6E8FC1-FC21-3B7E-360F-B51E9ECF2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EEC0C-325F-E048-8928-FA39941C71CF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084096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DA49CA-1491-79B8-3292-9AFE5AC0B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58D62-20CA-5A43-A963-90A0786561B3}" type="datetimeFigureOut">
              <a:rPr lang="en-FI" smtClean="0"/>
              <a:t>20.11.2025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9321C0-FB3C-4DD3-D4D4-A29D8BB6C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FD116-FD3D-7E76-F183-333C9D083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EEC0C-325F-E048-8928-FA39941C71CF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207069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78CC6-4DB1-7F0E-4271-DB19759D8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B5DBF-D69F-E309-FE1E-CA53C0C14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89FF9D-64E4-0F18-0C27-F4B294379F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E34FEE-B7EE-DE90-7BBB-1ECE346E1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58D62-20CA-5A43-A963-90A0786561B3}" type="datetimeFigureOut">
              <a:rPr lang="en-FI" smtClean="0"/>
              <a:t>20.11.2025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F9FC9-A4DD-9B37-DA66-B9B86502E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7FFFC8-99D3-70B3-262E-68EC883E2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EEC0C-325F-E048-8928-FA39941C71CF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51166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748FF-1A32-2EDE-257F-E1860CA6B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5C7B9A-CEF5-3EDD-CA35-2939372E68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41189F-7E60-DBBE-0CE2-409ACB42EB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3D7FF0-81CA-4CB3-E3EA-9CE191CAD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58D62-20CA-5A43-A963-90A0786561B3}" type="datetimeFigureOut">
              <a:rPr lang="en-FI" smtClean="0"/>
              <a:t>20.11.2025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FAF73E-E0DE-6D09-CAB1-2992F4F43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11C92-DA40-3217-44D8-04940DE94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EEC0C-325F-E048-8928-FA39941C71CF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56392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6769B-343C-E1E6-4BF3-2397F9BBD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45D1A7-C4D4-5200-BBD2-054F6F8CD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5CE01-74B0-9EC8-045D-1F0FDBCA1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58D62-20CA-5A43-A963-90A0786561B3}" type="datetimeFigureOut">
              <a:rPr lang="en-FI" smtClean="0"/>
              <a:t>20.11.2025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6FF16-6E63-0576-6A1C-E36624E62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460A5-7FB6-84D4-5F22-0174CA32A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EEC0C-325F-E048-8928-FA39941C71CF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622041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3FF268-DB5E-8A50-D6C6-D1D63C4BFB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21484B-4D5D-1C04-1038-07AC9BB1DA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CAC80-A4D4-AF23-3E3B-6944E576D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58D62-20CA-5A43-A963-90A0786561B3}" type="datetimeFigureOut">
              <a:rPr lang="en-FI" smtClean="0"/>
              <a:t>20.11.2025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DBF81-CDB5-014C-AC58-11863161D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9B7F3-EC4D-F62A-6239-3B9DEA8CF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EEC0C-325F-E048-8928-FA39941C71CF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165262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1FCBF2-6483-72B2-177A-DD7EE4635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C67FD-2E4E-0E63-2DAD-6DC61AF86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4DDD0-1663-FF4D-4E35-1698C7F477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058D62-20CA-5A43-A963-90A0786561B3}" type="datetimeFigureOut">
              <a:rPr lang="en-FI" smtClean="0"/>
              <a:t>20.11.2025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505BC-04B3-B291-7E83-0B76DAF26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98108-AF61-A162-4B81-D89A712B1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4EEC0C-325F-E048-8928-FA39941C71CF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106640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26657CE-7A26-4062-BDC9-C1EEB2E44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6072" y="-1"/>
            <a:ext cx="12308072" cy="68816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4C7DFA-3274-0758-A4CA-9F3AC5938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7588" y="2515185"/>
            <a:ext cx="5743250" cy="3100872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3753AA8F-A0E3-3B81-2B58-EB7FEE9E0FF9}"/>
              </a:ext>
            </a:extLst>
          </p:cNvPr>
          <p:cNvSpPr txBox="1">
            <a:spLocks/>
          </p:cNvSpPr>
          <p:nvPr/>
        </p:nvSpPr>
        <p:spPr>
          <a:xfrm>
            <a:off x="494282" y="3732683"/>
            <a:ext cx="4702159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Tx/>
              <a:buChar char="-"/>
            </a:pPr>
            <a:r>
              <a:rPr lang="en-GB" sz="1800" dirty="0"/>
              <a:t>Students: Oskari </a:t>
            </a:r>
            <a:r>
              <a:rPr lang="en-GB" sz="1800" dirty="0" err="1"/>
              <a:t>Perikangas</a:t>
            </a:r>
            <a:r>
              <a:rPr lang="en-US" sz="1800" dirty="0"/>
              <a:t>,</a:t>
            </a:r>
            <a:r>
              <a:rPr lang="en-GB" sz="1800" dirty="0"/>
              <a:t> Xiaosi Huang</a:t>
            </a:r>
          </a:p>
          <a:p>
            <a:pPr marL="342900" indent="-342900" algn="l">
              <a:buFontTx/>
              <a:buChar char="-"/>
            </a:pPr>
            <a:r>
              <a:rPr lang="en-GB" sz="1800" dirty="0"/>
              <a:t>Course: DATA.ML.360-2025-2026-1</a:t>
            </a:r>
          </a:p>
          <a:p>
            <a:pPr marL="342900" indent="-342900" algn="l">
              <a:buFontTx/>
              <a:buChar char="-"/>
            </a:pPr>
            <a:r>
              <a:rPr lang="en-GB" sz="1800" dirty="0"/>
              <a:t>Date: November 19, 2025</a:t>
            </a:r>
            <a:endParaRPr lang="en-FI" sz="18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F4D653B-7805-6AF7-F7EF-0BF500D7E7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750" y="742861"/>
            <a:ext cx="10908088" cy="1001712"/>
          </a:xfrm>
        </p:spPr>
        <p:txBody>
          <a:bodyPr>
            <a:noAutofit/>
          </a:bodyPr>
          <a:lstStyle/>
          <a:p>
            <a:r>
              <a:rPr lang="en-GB" sz="4400" b="1" dirty="0"/>
              <a:t>Diverse Sequential Group Recommendation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FF97DA-2B71-1482-1BE6-6CF08CF3900B}"/>
              </a:ext>
            </a:extLst>
          </p:cNvPr>
          <p:cNvSpPr txBox="1"/>
          <p:nvPr/>
        </p:nvSpPr>
        <p:spPr>
          <a:xfrm>
            <a:off x="858669" y="1870184"/>
            <a:ext cx="6840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Diversity-Guided Selection with Fairness Optimization (</a:t>
            </a:r>
            <a:r>
              <a:rPr lang="en-GB" b="1" dirty="0" err="1"/>
              <a:t>DiGSFO</a:t>
            </a:r>
            <a:r>
              <a:rPr lang="en-GB" b="1" dirty="0"/>
              <a:t>)</a:t>
            </a:r>
            <a:endParaRPr lang="en-FI" sz="2400" b="1" dirty="0"/>
          </a:p>
        </p:txBody>
      </p:sp>
    </p:spTree>
    <p:extLst>
      <p:ext uri="{BB962C8B-B14F-4D97-AF65-F5344CB8AC3E}">
        <p14:creationId xmlns:p14="http://schemas.microsoft.com/office/powerpoint/2010/main" val="909134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1F3B6-B21F-FA47-9242-35061FB28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A1AAC-7B79-0468-D57A-6AF540046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FI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278C6-C381-1EC7-1650-693A64EC5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C00E0C-8B11-C32A-7164-E10AE673D340}"/>
              </a:ext>
            </a:extLst>
          </p:cNvPr>
          <p:cNvSpPr txBox="1"/>
          <p:nvPr/>
        </p:nvSpPr>
        <p:spPr>
          <a:xfrm>
            <a:off x="1177158" y="797510"/>
            <a:ext cx="9837684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Sequential Group Recommendations</a:t>
            </a:r>
          </a:p>
          <a:p>
            <a:endParaRPr lang="en-GB" sz="2400" dirty="0"/>
          </a:p>
          <a:p>
            <a:r>
              <a:rPr lang="en-GB" sz="2400" b="1" dirty="0"/>
              <a:t>Challenges:</a:t>
            </a:r>
          </a:p>
          <a:p>
            <a:r>
              <a:rPr lang="en-GB" sz="2400" dirty="0"/>
              <a:t>- Filter bubble: Repeatedly suggesting similar genres</a:t>
            </a:r>
          </a:p>
          <a:p>
            <a:r>
              <a:rPr lang="en-GB" sz="2400" dirty="0"/>
              <a:t>- Unfairness: Minority preferences get ignored</a:t>
            </a:r>
          </a:p>
          <a:p>
            <a:r>
              <a:rPr lang="en-GB" sz="2400" dirty="0"/>
              <a:t>- Users only see content matching past </a:t>
            </a:r>
            <a:r>
              <a:rPr lang="en-GB" sz="2400" dirty="0" err="1"/>
              <a:t>behavior</a:t>
            </a:r>
            <a:endParaRPr lang="en-GB" sz="2400" dirty="0"/>
          </a:p>
          <a:p>
            <a:endParaRPr lang="en-GB" sz="2400" dirty="0"/>
          </a:p>
          <a:p>
            <a:r>
              <a:rPr lang="en-GB" sz="2400" b="1" dirty="0"/>
              <a:t>Solution: </a:t>
            </a:r>
            <a:r>
              <a:rPr lang="en-GB" sz="2400" b="1" dirty="0" err="1"/>
              <a:t>DiGSFO</a:t>
            </a:r>
            <a:endParaRPr lang="en-GB" sz="2400" b="1" dirty="0"/>
          </a:p>
          <a:p>
            <a:r>
              <a:rPr lang="en-GB" sz="2400" dirty="0"/>
              <a:t>(Diversity-Guided Selection with Fairness Optimization)</a:t>
            </a:r>
          </a:p>
          <a:p>
            <a:endParaRPr lang="en-GB" sz="2400" dirty="0"/>
          </a:p>
          <a:p>
            <a:r>
              <a:rPr lang="en-GB" sz="2400" b="1" dirty="0"/>
              <a:t>Core idea:</a:t>
            </a:r>
          </a:p>
          <a:p>
            <a:r>
              <a:rPr lang="en-GB" sz="2400" dirty="0"/>
              <a:t>- Filter by diversity (genre distance)</a:t>
            </a:r>
          </a:p>
          <a:p>
            <a:r>
              <a:rPr lang="en-GB" sz="2400" dirty="0"/>
              <a:t>- Optimize by fairness (weighted satisfaction)</a:t>
            </a:r>
          </a:p>
          <a:p>
            <a:r>
              <a:rPr lang="en-GB" sz="2400" dirty="0"/>
              <a:t>- List-level evaluation (coherent recommendations</a:t>
            </a:r>
            <a:r>
              <a:rPr lang="en-US" sz="2400" dirty="0"/>
              <a:t>_more rounds</a:t>
            </a:r>
            <a:r>
              <a:rPr lang="en-GB" sz="2400" dirty="0"/>
              <a:t>)</a:t>
            </a:r>
            <a:endParaRPr lang="en-FI" sz="2400" dirty="0"/>
          </a:p>
        </p:txBody>
      </p:sp>
    </p:spTree>
    <p:extLst>
      <p:ext uri="{BB962C8B-B14F-4D97-AF65-F5344CB8AC3E}">
        <p14:creationId xmlns:p14="http://schemas.microsoft.com/office/powerpoint/2010/main" val="640344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B2CD0-8FD9-11CF-1237-77BDB130E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BBE77-A5BD-F019-F49C-1020FBD4A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915B6-0095-CB5A-6C54-8C153C5D4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FI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FEE502-CB85-1099-FF4F-5A9931252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CE30F0-9CDC-90F6-577C-9BD22B2F76F6}"/>
              </a:ext>
            </a:extLst>
          </p:cNvPr>
          <p:cNvSpPr txBox="1"/>
          <p:nvPr/>
        </p:nvSpPr>
        <p:spPr>
          <a:xfrm>
            <a:off x="1856389" y="582067"/>
            <a:ext cx="10335611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 err="1"/>
              <a:t>DiGSFO</a:t>
            </a:r>
            <a:r>
              <a:rPr lang="en-GB" sz="2800" b="1" dirty="0"/>
              <a:t> Algorithm Flow</a:t>
            </a:r>
          </a:p>
          <a:p>
            <a:endParaRPr lang="en-GB" sz="2000" dirty="0"/>
          </a:p>
          <a:p>
            <a:r>
              <a:rPr lang="en-GB" sz="2000" dirty="0"/>
              <a:t>Round 1: Average aggregation (no history to compare)</a:t>
            </a:r>
          </a:p>
          <a:p>
            <a:endParaRPr lang="en-GB" sz="2000" dirty="0"/>
          </a:p>
          <a:p>
            <a:r>
              <a:rPr lang="en-GB" sz="2000" dirty="0"/>
              <a:t>Round 2 onwards:</a:t>
            </a:r>
          </a:p>
          <a:p>
            <a:r>
              <a:rPr lang="en-GB" sz="2000" dirty="0"/>
              <a:t>Step 1: Generate candidates</a:t>
            </a:r>
          </a:p>
          <a:p>
            <a:r>
              <a:rPr lang="en-GB" sz="2000" dirty="0"/>
              <a:t>  - Each user: top-100 items</a:t>
            </a:r>
          </a:p>
          <a:p>
            <a:r>
              <a:rPr lang="en-GB" sz="2000" dirty="0"/>
              <a:t>  - Create 50 candidate lists (sliding window)</a:t>
            </a:r>
          </a:p>
          <a:p>
            <a:endParaRPr lang="en-GB" sz="2000" dirty="0"/>
          </a:p>
          <a:p>
            <a:r>
              <a:rPr lang="en-GB" sz="2000" dirty="0"/>
              <a:t>Step 2: Filter by diversity</a:t>
            </a:r>
          </a:p>
          <a:p>
            <a:r>
              <a:rPr lang="en-GB" sz="2000" dirty="0"/>
              <a:t>  - Calculate genre distance to history</a:t>
            </a:r>
          </a:p>
          <a:p>
            <a:r>
              <a:rPr lang="en-GB" sz="2000" dirty="0"/>
              <a:t>  - Keep only lists with distance ≥ </a:t>
            </a:r>
            <a:r>
              <a:rPr lang="el-GR" sz="2000" dirty="0"/>
              <a:t>δ</a:t>
            </a:r>
          </a:p>
          <a:p>
            <a:endParaRPr lang="el-GR" sz="2000" dirty="0"/>
          </a:p>
          <a:p>
            <a:r>
              <a:rPr lang="en-GB" sz="2000" dirty="0"/>
              <a:t>Step 3: Score by fairness</a:t>
            </a:r>
          </a:p>
          <a:p>
            <a:r>
              <a:rPr lang="en-GB" sz="2000" dirty="0"/>
              <a:t>  - Weighted fairness (considers history)</a:t>
            </a:r>
          </a:p>
          <a:p>
            <a:r>
              <a:rPr lang="en-GB" sz="2000" dirty="0"/>
              <a:t>  - Select most fair list</a:t>
            </a:r>
          </a:p>
          <a:p>
            <a:endParaRPr lang="en-GB" sz="2000" dirty="0"/>
          </a:p>
          <a:p>
            <a:r>
              <a:rPr lang="en-GB" sz="2000" dirty="0"/>
              <a:t>Innovation: Combines diversity + fairness</a:t>
            </a:r>
            <a:endParaRPr lang="en-FI" sz="2000" dirty="0"/>
          </a:p>
        </p:txBody>
      </p:sp>
    </p:spTree>
    <p:extLst>
      <p:ext uri="{BB962C8B-B14F-4D97-AF65-F5344CB8AC3E}">
        <p14:creationId xmlns:p14="http://schemas.microsoft.com/office/powerpoint/2010/main" val="2169455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E0839-99E1-F250-7316-DD767B4DA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4BACF-A100-79EC-FAA4-14E3353C3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01AFF-79D2-285D-AC77-9E11DA8C7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FI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355946-F005-97C1-A2FC-2E27D6AF2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E3C57D-0A44-1256-68EE-5B48C20CE360}"/>
              </a:ext>
            </a:extLst>
          </p:cNvPr>
          <p:cNvSpPr txBox="1"/>
          <p:nvPr/>
        </p:nvSpPr>
        <p:spPr>
          <a:xfrm>
            <a:off x="1765738" y="551289"/>
            <a:ext cx="9228296" cy="57554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/>
              <a:t>Tested users example:</a:t>
            </a:r>
          </a:p>
          <a:p>
            <a:endParaRPr lang="en-GB" sz="2800" dirty="0"/>
          </a:p>
          <a:p>
            <a:r>
              <a:rPr lang="en-GB" sz="2800" dirty="0"/>
              <a:t>- Group: 3 users (User 1, 414, 599)</a:t>
            </a:r>
          </a:p>
          <a:p>
            <a:r>
              <a:rPr lang="en-GB" sz="2800" dirty="0"/>
              <a:t>- Rounds: 10 sequential recommendation rounds</a:t>
            </a:r>
          </a:p>
          <a:p>
            <a:r>
              <a:rPr lang="en-GB" sz="2800" dirty="0"/>
              <a:t>- Recommendations per round: 5 movies (one list)</a:t>
            </a:r>
          </a:p>
          <a:p>
            <a:r>
              <a:rPr lang="en-GB" sz="2800" dirty="0"/>
              <a:t>- Rating scale: 0.5 to 5.0 (</a:t>
            </a:r>
            <a:r>
              <a:rPr lang="en-GB" sz="2800" dirty="0" err="1"/>
              <a:t>MovieLens</a:t>
            </a:r>
            <a:r>
              <a:rPr lang="en-GB" sz="2800" dirty="0"/>
              <a:t> dataset)</a:t>
            </a:r>
          </a:p>
          <a:p>
            <a:endParaRPr lang="en-GB" sz="2800" dirty="0"/>
          </a:p>
          <a:p>
            <a:r>
              <a:rPr lang="en-GB" sz="2800" dirty="0"/>
              <a:t>Process:</a:t>
            </a:r>
          </a:p>
          <a:p>
            <a:r>
              <a:rPr lang="en-GB" sz="2800" dirty="0"/>
              <a:t>- Round 1: Average aggregation selects top-5 movies</a:t>
            </a:r>
          </a:p>
          <a:p>
            <a:r>
              <a:rPr lang="en-GB" sz="2800" dirty="0"/>
              <a:t>- Round 2-10: Generate 50 candidate lists (5 movies each), </a:t>
            </a:r>
          </a:p>
          <a:p>
            <a:r>
              <a:rPr lang="en-GB" sz="2800" dirty="0"/>
              <a:t>              select the most fair and diverse list</a:t>
            </a:r>
          </a:p>
          <a:p>
            <a:endParaRPr lang="en-GB" sz="2800" dirty="0"/>
          </a:p>
          <a:p>
            <a:r>
              <a:rPr lang="en-GB" sz="2800" dirty="0"/>
              <a:t>Total: 50 movies recommended across 10 rounds</a:t>
            </a:r>
            <a:endParaRPr lang="en-FI" sz="2800" dirty="0"/>
          </a:p>
        </p:txBody>
      </p:sp>
    </p:spTree>
    <p:extLst>
      <p:ext uri="{BB962C8B-B14F-4D97-AF65-F5344CB8AC3E}">
        <p14:creationId xmlns:p14="http://schemas.microsoft.com/office/powerpoint/2010/main" val="3541175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1AC94-E3D6-A206-D862-DDB65E703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A6B05-02A0-7A68-6CD3-99FC731A6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590EE-3AA4-F85C-6B5D-C3EADCC9F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FI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E6EA3B-8004-3DE0-90E5-C89E03612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BFB9E8-7B29-D828-BFBD-8BC60E6AE711}"/>
              </a:ext>
            </a:extLst>
          </p:cNvPr>
          <p:cNvSpPr txBox="1"/>
          <p:nvPr/>
        </p:nvSpPr>
        <p:spPr>
          <a:xfrm>
            <a:off x="1608082" y="400433"/>
            <a:ext cx="9049407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Results: Delta Parameter Testing</a:t>
            </a:r>
            <a:endParaRPr lang="en-GB" sz="2000" dirty="0"/>
          </a:p>
          <a:p>
            <a:endParaRPr lang="en-GB" altLang="zh-CN" sz="2000" dirty="0"/>
          </a:p>
          <a:p>
            <a:endParaRPr lang="en-GB" altLang="zh-CN" sz="2000" dirty="0"/>
          </a:p>
          <a:p>
            <a:endParaRPr lang="en-GB" altLang="zh-CN" sz="2000" dirty="0"/>
          </a:p>
          <a:p>
            <a:endParaRPr lang="en-GB" altLang="zh-CN" sz="2000" dirty="0"/>
          </a:p>
          <a:p>
            <a:endParaRPr lang="en-GB" altLang="zh-CN" sz="2000" dirty="0"/>
          </a:p>
          <a:p>
            <a:endParaRPr lang="en-GB" altLang="zh-CN" sz="2000" dirty="0"/>
          </a:p>
          <a:p>
            <a:endParaRPr lang="en-GB" altLang="zh-CN" sz="2000" dirty="0"/>
          </a:p>
          <a:p>
            <a:endParaRPr lang="en-GB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GB" sz="2000" dirty="0"/>
          </a:p>
          <a:p>
            <a:endParaRPr lang="en-GB" sz="2000" dirty="0"/>
          </a:p>
          <a:p>
            <a:r>
              <a:rPr lang="en-GB" sz="2000" dirty="0"/>
              <a:t>- Satisfaction: Stable at 0.806 (delta 0.0-0.5)</a:t>
            </a:r>
          </a:p>
          <a:p>
            <a:r>
              <a:rPr lang="en-GB" sz="2000" dirty="0"/>
              <a:t>- Disagreement: Stable at 0.337 (weighted fairness works)</a:t>
            </a:r>
          </a:p>
          <a:p>
            <a:r>
              <a:rPr lang="en-GB" sz="2000" dirty="0"/>
              <a:t>- Diversity: Increases with delta</a:t>
            </a:r>
          </a:p>
          <a:p>
            <a:r>
              <a:rPr lang="en-GB" sz="2000" dirty="0"/>
              <a:t> - 0.785 (no filter) → 0.801 (delta=0.5) → 0.960 (delta=0.8)</a:t>
            </a:r>
          </a:p>
          <a:p>
            <a:endParaRPr lang="en-GB" sz="2000" dirty="0"/>
          </a:p>
          <a:p>
            <a:r>
              <a:rPr lang="en-GB" sz="2000" dirty="0"/>
              <a:t>Best configuration: Delta = 0.5</a:t>
            </a:r>
          </a:p>
          <a:p>
            <a:r>
              <a:rPr lang="en-GB" sz="2000" dirty="0"/>
              <a:t>→ Balances diversity gain with satisfaction maintenance</a:t>
            </a:r>
            <a:endParaRPr lang="en-FI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90F6D2-FE19-D44C-795F-693A000CF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14" y="1144588"/>
            <a:ext cx="11939572" cy="309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934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008A2-9461-BCE4-03AA-E4164C103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5F75F-9F2C-2C10-2784-788BB5F7A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80C3D-9E48-D590-7F6E-1338BF2F4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FI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A79E5B-678C-77FE-CD6F-80B11340B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DEABA5-EEE3-0D42-1889-A8FB0137D43C}"/>
              </a:ext>
            </a:extLst>
          </p:cNvPr>
          <p:cNvSpPr txBox="1"/>
          <p:nvPr/>
        </p:nvSpPr>
        <p:spPr>
          <a:xfrm>
            <a:off x="1421853" y="383409"/>
            <a:ext cx="7094483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Why </a:t>
            </a:r>
            <a:r>
              <a:rPr lang="en-GB" sz="3600" b="1" dirty="0" err="1"/>
              <a:t>DiGSFO</a:t>
            </a:r>
            <a:r>
              <a:rPr lang="en-GB" sz="3600" b="1" dirty="0"/>
              <a:t> Works Well</a:t>
            </a:r>
          </a:p>
          <a:p>
            <a:endParaRPr lang="en-GB" sz="2400" dirty="0"/>
          </a:p>
          <a:p>
            <a:r>
              <a:rPr lang="en-GB" sz="2400" dirty="0"/>
              <a:t>1. Prevents repetitive content</a:t>
            </a:r>
          </a:p>
          <a:p>
            <a:r>
              <a:rPr lang="en-GB" sz="2400" dirty="0"/>
              <a:t>   Genre-based distance filtering</a:t>
            </a:r>
          </a:p>
          <a:p>
            <a:r>
              <a:rPr lang="en-GB" sz="2400" dirty="0"/>
              <a:t>   → Diversity +2% (0.785 → 0.801)</a:t>
            </a:r>
          </a:p>
          <a:p>
            <a:endParaRPr lang="en-GB" sz="2400" dirty="0"/>
          </a:p>
          <a:p>
            <a:r>
              <a:rPr lang="en-GB" sz="2400" dirty="0"/>
              <a:t>2. Maintains group fairness</a:t>
            </a:r>
          </a:p>
          <a:p>
            <a:r>
              <a:rPr lang="en-GB" sz="2400" dirty="0"/>
              <a:t>   Weighted fairness mechanism</a:t>
            </a:r>
          </a:p>
          <a:p>
            <a:r>
              <a:rPr lang="en-GB" sz="2400" dirty="0"/>
              <a:t>   → Disagreement stable at 0.337</a:t>
            </a:r>
          </a:p>
          <a:p>
            <a:endParaRPr lang="en-GB" sz="2400" dirty="0"/>
          </a:p>
          <a:p>
            <a:r>
              <a:rPr lang="en-GB" sz="2400" dirty="0"/>
              <a:t>3. List-level optimization</a:t>
            </a:r>
          </a:p>
          <a:p>
            <a:r>
              <a:rPr lang="en-GB" sz="2400" dirty="0"/>
              <a:t>   Evaluates 5-movie sets as whole</a:t>
            </a:r>
          </a:p>
          <a:p>
            <a:r>
              <a:rPr lang="en-GB" sz="2400" dirty="0"/>
              <a:t>   → Coherent recommendations</a:t>
            </a:r>
          </a:p>
          <a:p>
            <a:endParaRPr lang="en-GB" sz="2400" dirty="0"/>
          </a:p>
          <a:p>
            <a:r>
              <a:rPr lang="en-GB" sz="2400" dirty="0"/>
              <a:t>Tested on group [User 1, 414, 599] over 10 rounds</a:t>
            </a:r>
          </a:p>
          <a:p>
            <a:r>
              <a:rPr lang="en-GB" sz="2400" dirty="0"/>
              <a:t>Successfully balanced diversity and fairness</a:t>
            </a:r>
            <a:endParaRPr lang="en-FI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1B0085-CA96-E989-92D5-67BA99148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275" y="2055813"/>
            <a:ext cx="5372100" cy="231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054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411</Words>
  <Application>Microsoft Macintosh PowerPoint</Application>
  <PresentationFormat>Widescreen</PresentationFormat>
  <Paragraphs>86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Diverse Sequential Group Recommendation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Xiaosi Huang</dc:creator>
  <cp:lastModifiedBy>Xiaosi Huang</cp:lastModifiedBy>
  <cp:revision>3</cp:revision>
  <dcterms:created xsi:type="dcterms:W3CDTF">2025-11-19T18:24:07Z</dcterms:created>
  <dcterms:modified xsi:type="dcterms:W3CDTF">2025-11-20T10:27:45Z</dcterms:modified>
</cp:coreProperties>
</file>