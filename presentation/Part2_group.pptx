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2" r:id="rId4"/>
    <p:sldId id="267" r:id="rId5"/>
    <p:sldId id="265" r:id="rId6"/>
    <p:sldId id="268" r:id="rId7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28"/>
  </p:normalViewPr>
  <p:slideViewPr>
    <p:cSldViewPr snapToGrid="0">
      <p:cViewPr>
        <p:scale>
          <a:sx n="81" d="100"/>
          <a:sy n="81" d="100"/>
        </p:scale>
        <p:origin x="552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A1530-BBF0-F94D-A458-1B9B062BF84B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6FA6B-2CB6-414F-9C23-CA78BF04C56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6461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6FA6B-2CB6-414F-9C23-CA78BF04C563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3314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3151-7DD6-5C9E-729A-1C1E0BFF5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6F3E3-9B7B-46EC-7A81-E162F69CA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0B239-5CF2-7E8C-1009-736A933E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E6177-1556-C573-9B6A-014F704E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3E6EC-6A1C-8A61-9094-497C308E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14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9DA5-2A7E-2337-3DF3-BE7345DD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439C7-685F-2BBB-5F0B-32AC67B88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8AF33-F6AE-CDC3-3844-B2AECF7C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DF6A7-E63A-308C-D0E3-154F2EC2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63C74-7E67-4974-6804-8060BA36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607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A0BB-23D3-7AA2-9AFB-1AF154FE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476CA-4BFB-0721-5283-11C558204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3E7A9-1ABA-D2FF-FBFA-6F983E60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B8A1A-466A-82FF-EB4A-84750120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EF1DF-2806-481F-6CE5-1CAE9FD5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9144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CFCD-0FBD-C3AE-4D19-16AE3920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D1DD4-B3A2-1719-6407-79D9E90B2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86BA4-EB5B-851C-F5FF-89DB08ABE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A2C7E-3711-EEED-A59A-EE54AA79C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4867A-2DAA-543B-1782-6C1CCD8C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D8CF6-D06F-047F-E694-72A026C6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3340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3FBC-0B0C-1265-C49F-21D6604E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2C91B-F71C-C686-0C11-A0FD40537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CB0D5-0166-3625-2010-EBFA4DFA7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1A29-B398-3A6E-24EF-512AE53D7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CC4B45-5F75-59A0-5D5B-F0048A999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F5FFB-D8C1-4792-F524-86AECC77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544798-C844-5D44-5E48-306C190F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763AC-163C-DCA0-602D-8EA40444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9098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887B-60B6-9862-71EA-3A97B596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DDB5A-7E10-7A3F-BB1E-0510D15D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50EFD-C447-FF32-6C9C-8DC5B06C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086C1-8B2C-868A-5E4D-79744E66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5676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4FCB75-EC9C-76E7-D93A-AA5B4D98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58BBD-D243-6A0C-1C1E-4C321819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5FAC-61EF-2DCA-C326-49DA7D2F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09827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42D1-84FE-40F7-C0A8-5CA2580E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55A3-4CAC-2DF6-12A1-DA550C93B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B2DE7-A623-6385-DA52-D253DEDB8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7D5D-097A-0DCE-2EA0-0FF87DFA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E7142-B2A6-7C51-064C-D211F483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E4260-E9C6-0BBF-2C6F-73C718BD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2889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1B61-1E4D-F745-9647-85E4283C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975E0-321A-7FFC-1DE9-6549B7019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5E3C9-FF72-E28D-30B5-734FA09EA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EA571-27B8-0962-A546-C8FCECBF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CD74E-C480-14AA-622B-35AE33B0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CAC5C-19AE-6843-6A87-9FFE5400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3785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A60A-3255-CE29-7CB3-4C01DEA1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D1556-CC33-06CD-0633-2174E519D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3E461-8C7F-5336-7FD6-C464D642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93F7-A2E3-0002-3DD3-23C3B6C9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402E3-51E2-7DEE-4128-E2D6D1C5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7518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3C67C0-7ED7-3726-525E-16894C859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64C7A-5547-42B2-A6EC-02BDDCA3B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F71F6-B358-0537-EB6F-FE36CA13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99216-DAAF-62E7-43BC-7303F2BE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11D33-C073-1FB6-C0D4-AAC71F2A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3323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BB8D7-8003-1964-3E7C-09FFB970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73B9C-3C4F-96E1-A3F2-6ACEA2CF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E2C3E-3FE3-B4C0-955A-DE6FC017C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18288-B85B-2D44-B86D-F3A0FAFA3DFF}" type="datetimeFigureOut">
              <a:rPr lang="en-FI" smtClean="0"/>
              <a:t>11.11.2025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2C053-EB03-52B6-DC93-4B2BFE02C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85778-437F-4CCD-C912-15F48354E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5924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9AD82A-210C-49CE-87BC-DDB42C620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FAC650-DDE8-B0D7-77F5-AAC72A537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956" y="744072"/>
            <a:ext cx="10908088" cy="1001712"/>
          </a:xfrm>
        </p:spPr>
        <p:txBody>
          <a:bodyPr>
            <a:normAutofit/>
          </a:bodyPr>
          <a:lstStyle/>
          <a:p>
            <a:pPr algn="l"/>
            <a:r>
              <a:rPr lang="en-GB" sz="4400" dirty="0"/>
              <a:t>Sequential Group Recommendation with SDAA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F74C2-4B12-E370-7C2F-725D3A2CA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70" y="3898064"/>
            <a:ext cx="7481452" cy="1655762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GB" sz="2000" dirty="0"/>
              <a:t>Students: Oskari </a:t>
            </a:r>
            <a:r>
              <a:rPr lang="en-GB" sz="2000" dirty="0" err="1"/>
              <a:t>Perikangas</a:t>
            </a:r>
            <a:r>
              <a:rPr lang="en-US" sz="2000" dirty="0"/>
              <a:t>,</a:t>
            </a:r>
            <a:r>
              <a:rPr lang="en-GB" sz="2000" dirty="0"/>
              <a:t> Xiaosi Huang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Course: DATA.ML.360-2025-2026-1 Recommender Systems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Date: November 10, 2025</a:t>
            </a:r>
            <a:endParaRPr lang="en-FI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4213C-E423-4691-0541-A6F51D587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322" y="2900167"/>
            <a:ext cx="3284453" cy="30831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9EBB0B-067B-107C-113E-E5BB20EC345F}"/>
              </a:ext>
            </a:extLst>
          </p:cNvPr>
          <p:cNvSpPr txBox="1"/>
          <p:nvPr/>
        </p:nvSpPr>
        <p:spPr>
          <a:xfrm>
            <a:off x="641956" y="1852527"/>
            <a:ext cx="7944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Method: Satisfaction and Disagreement Aware Aggregation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83153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C31B7A-A3E7-BA38-8BCA-D0EC8DA1F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2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6AF06F-79AC-466E-33D7-87A9B86C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6" y="322104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From Static to Dynamic Group Recommendations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74BC2-7A1A-CEEB-C0B0-5AA9A8B36211}"/>
              </a:ext>
            </a:extLst>
          </p:cNvPr>
          <p:cNvSpPr txBox="1"/>
          <p:nvPr/>
        </p:nvSpPr>
        <p:spPr>
          <a:xfrm>
            <a:off x="682748" y="2302527"/>
            <a:ext cx="10265547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sz="2400" b="1" dirty="0"/>
              <a:t>Problems?</a:t>
            </a:r>
          </a:p>
          <a:p>
            <a:pPr latinLnBrk="1"/>
            <a:r>
              <a:rPr lang="en-GB" sz="2400" dirty="0"/>
              <a:t>- Average: Treats all users equally every round</a:t>
            </a:r>
          </a:p>
          <a:p>
            <a:pPr latinLnBrk="1"/>
            <a:r>
              <a:rPr lang="en-GB" sz="2400" dirty="0"/>
              <a:t>  → Minority users consistently unsatisfied</a:t>
            </a:r>
          </a:p>
          <a:p>
            <a:pPr latinLnBrk="1"/>
            <a:r>
              <a:rPr lang="en-GB" sz="2400" dirty="0"/>
              <a:t>  </a:t>
            </a:r>
          </a:p>
          <a:p>
            <a:pPr latinLnBrk="1"/>
            <a:r>
              <a:rPr lang="en-GB" sz="2400" dirty="0"/>
              <a:t>- Least Misery: Always focuses on least satisfied user</a:t>
            </a:r>
          </a:p>
          <a:p>
            <a:pPr latinLnBrk="1"/>
            <a:r>
              <a:rPr lang="en-GB" sz="2400" dirty="0"/>
              <a:t>  → Lower overall group satisfaction</a:t>
            </a:r>
          </a:p>
          <a:p>
            <a:pPr latinLnBrk="1"/>
            <a:endParaRPr lang="en-GB" sz="2000" dirty="0"/>
          </a:p>
          <a:p>
            <a:pPr latinLnBrk="1"/>
            <a:r>
              <a:rPr lang="en-GB" sz="2400" b="1" dirty="0"/>
              <a:t>New challenge:</a:t>
            </a:r>
          </a:p>
          <a:p>
            <a:pPr latinLnBrk="1"/>
            <a:r>
              <a:rPr lang="en-GB" sz="2400" dirty="0"/>
              <a:t>How to ensure fairness across MULTIPLE rounds without sacrificing quality</a:t>
            </a:r>
            <a:r>
              <a:rPr lang="en-GB" sz="2000" dirty="0"/>
              <a:t>?</a:t>
            </a:r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E7DFE4-3341-2E96-6641-2F060F586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615" y="2991911"/>
            <a:ext cx="3119711" cy="197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6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69D9AC-A98A-B47C-F2C6-695074DDD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7071F1-D21F-9B52-3D70-5285F7B1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07" y="305295"/>
            <a:ext cx="10515600" cy="1325563"/>
          </a:xfrm>
        </p:spPr>
        <p:txBody>
          <a:bodyPr>
            <a:normAutofit/>
          </a:bodyPr>
          <a:lstStyle/>
          <a:p>
            <a:pPr latinLnBrk="1"/>
            <a:r>
              <a:rPr lang="en-GB" sz="3600" b="1" dirty="0"/>
              <a:t>SDAA Method Design</a:t>
            </a:r>
            <a:r>
              <a:rPr lang="zh-CN" altLang="en-US" sz="3600" b="1" dirty="0"/>
              <a:t> </a:t>
            </a:r>
            <a:r>
              <a:rPr lang="en-GB" sz="3600" dirty="0"/>
              <a:t>(from SQUIRREL Framework)</a:t>
            </a:r>
            <a:endParaRPr lang="en-GB" sz="2400" b="1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2314834-107A-67CC-E5D3-8C210DD9D9AD}"/>
              </a:ext>
            </a:extLst>
          </p:cNvPr>
          <p:cNvSpPr txBox="1">
            <a:spLocks/>
          </p:cNvSpPr>
          <p:nvPr/>
        </p:nvSpPr>
        <p:spPr>
          <a:xfrm>
            <a:off x="466239" y="1372675"/>
            <a:ext cx="11259522" cy="498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n-GB" sz="2400" dirty="0"/>
              <a:t>Track cumulative satisfaction for each user </a:t>
            </a:r>
          </a:p>
          <a:p>
            <a:pPr marL="0" indent="0">
              <a:buNone/>
            </a:pPr>
            <a:endParaRPr lang="en-GB" sz="2400" dirty="0"/>
          </a:p>
          <a:p>
            <a:pPr marL="457200" indent="-457200">
              <a:buAutoNum type="arabicPeriod" startAt="2"/>
            </a:pPr>
            <a:r>
              <a:rPr lang="en-GB" sz="2400" dirty="0"/>
              <a:t>Calculate fairness weights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3. </a:t>
            </a:r>
            <a:r>
              <a:rPr lang="zh-CN" altLang="en-US" sz="2400" dirty="0"/>
              <a:t>  </a:t>
            </a:r>
            <a:r>
              <a:rPr lang="en-GB" sz="2400" dirty="0"/>
              <a:t>Blend Average and Least Misery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4. Adapt dynamically each round with Reward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32D61-7043-8768-9382-FFD004838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547" y="1257300"/>
            <a:ext cx="3150798" cy="6751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D60362-1FE7-54A6-5CAF-67E5ECDC9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170" y="2245277"/>
            <a:ext cx="4127750" cy="6751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CD3AF8-4B95-48D4-D6F3-9623E10E5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96" y="3723249"/>
            <a:ext cx="7468350" cy="545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BBC994-E66B-8703-1135-370DD6FBC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995" y="5114453"/>
            <a:ext cx="5342674" cy="7875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FCCECA-4414-2CAB-8418-917323ECF23B}"/>
              </a:ext>
            </a:extLst>
          </p:cNvPr>
          <p:cNvSpPr txBox="1"/>
          <p:nvPr/>
        </p:nvSpPr>
        <p:spPr>
          <a:xfrm>
            <a:off x="8790785" y="2428973"/>
            <a:ext cx="28391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Lower satisfaction → Higher weight</a:t>
            </a:r>
            <a:endParaRPr lang="en-FI" sz="1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6BB95-1563-FD74-5663-800A6B671F23}"/>
              </a:ext>
            </a:extLst>
          </p:cNvPr>
          <p:cNvSpPr txBox="1"/>
          <p:nvPr/>
        </p:nvSpPr>
        <p:spPr>
          <a:xfrm>
            <a:off x="8509058" y="3787226"/>
            <a:ext cx="2849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Here  </a:t>
            </a:r>
            <a:r>
              <a:rPr lang="el-GR" sz="1600" dirty="0">
                <a:solidFill>
                  <a:srgbClr val="FF0000"/>
                </a:solidFill>
              </a:rPr>
              <a:t>α = </a:t>
            </a:r>
            <a:r>
              <a:rPr lang="en-GB" sz="1600" dirty="0">
                <a:solidFill>
                  <a:srgbClr val="FF0000"/>
                </a:solidFill>
              </a:rPr>
              <a:t>satisfaction disparity</a:t>
            </a:r>
            <a:endParaRPr lang="en-FI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1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8A8D-B974-CA0C-E6A5-10848DBA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FDFCE0-27A7-41B9-2F12-660BC7C0A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AD3B0A-B937-C970-799A-9DC3074E7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697" y="586682"/>
            <a:ext cx="6761033" cy="1325563"/>
          </a:xfrm>
        </p:spPr>
        <p:txBody>
          <a:bodyPr>
            <a:normAutofit/>
          </a:bodyPr>
          <a:lstStyle/>
          <a:p>
            <a:pPr latinLnBrk="1"/>
            <a:r>
              <a:rPr lang="en-GB" sz="4000" b="1" dirty="0"/>
              <a:t>Testing users </a:t>
            </a:r>
            <a:r>
              <a:rPr lang="en-FI" dirty="0"/>
              <a:t>[1, 414, 599]</a:t>
            </a:r>
            <a:br>
              <a:rPr lang="en-FI" dirty="0"/>
            </a:br>
            <a:endParaRPr lang="en-GB" sz="4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670AC-516E-60D7-DF22-A33364F75BF6}"/>
              </a:ext>
            </a:extLst>
          </p:cNvPr>
          <p:cNvSpPr txBox="1"/>
          <p:nvPr/>
        </p:nvSpPr>
        <p:spPr>
          <a:xfrm>
            <a:off x="637968" y="1443840"/>
            <a:ext cx="1155403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Round 1 Results:</a:t>
            </a:r>
          </a:p>
          <a:p>
            <a:r>
              <a:rPr lang="en-GB" sz="2000" dirty="0"/>
              <a:t>User 1:   Satisfaction = 1.00 (very satisfied)</a:t>
            </a:r>
          </a:p>
          <a:p>
            <a:r>
              <a:rPr lang="en-GB" sz="2000" dirty="0"/>
              <a:t>User 414: Satisfaction = 0.84</a:t>
            </a:r>
          </a:p>
          <a:p>
            <a:r>
              <a:rPr lang="en-GB" sz="2000" dirty="0"/>
              <a:t>User 599: Satisfaction = 0.70 (least satisfied)</a:t>
            </a:r>
          </a:p>
          <a:p>
            <a:endParaRPr lang="en-GB" sz="2000" dirty="0"/>
          </a:p>
          <a:p>
            <a:r>
              <a:rPr lang="en-GB" sz="2000" dirty="0"/>
              <a:t>Round 2 - SDAA Response:</a:t>
            </a:r>
          </a:p>
          <a:p>
            <a:r>
              <a:rPr lang="en-GB" sz="2000" dirty="0"/>
              <a:t>Adjusted Weights: {1: 0.00, 414: 0.35, 599: 0.65}</a:t>
            </a:r>
          </a:p>
          <a:p>
            <a:r>
              <a:rPr lang="en-GB" sz="2000" dirty="0"/>
              <a:t>→ User 599 gets 65% influence on recommendations</a:t>
            </a:r>
          </a:p>
          <a:p>
            <a:endParaRPr lang="en-GB" sz="2000" dirty="0"/>
          </a:p>
          <a:p>
            <a:r>
              <a:rPr lang="en-GB" sz="2000" dirty="0"/>
              <a:t>Round 2 Results:</a:t>
            </a:r>
          </a:p>
          <a:p>
            <a:r>
              <a:rPr lang="en-GB" sz="2000" dirty="0"/>
              <a:t>User 599: Satisfaction improved to 0.68 ↑</a:t>
            </a:r>
          </a:p>
          <a:p>
            <a:endParaRPr lang="en-GB" sz="2000" dirty="0"/>
          </a:p>
          <a:p>
            <a:r>
              <a:rPr lang="en-GB" sz="2000" dirty="0"/>
              <a:t>Interesting workflow:</a:t>
            </a:r>
          </a:p>
          <a:p>
            <a:r>
              <a:rPr lang="en-GB" sz="2000" dirty="0"/>
              <a:t>SDAA remembers who was dissatisfied and gives them  priority in future rounds, </a:t>
            </a:r>
          </a:p>
          <a:p>
            <a:r>
              <a:rPr lang="en-GB" sz="2000" dirty="0"/>
              <a:t>ensuring long-term fairness.</a:t>
            </a:r>
            <a:endParaRPr lang="en-FI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2EE4E3-D2AA-2603-58CB-314DE3751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231" y="1962218"/>
            <a:ext cx="5088375" cy="302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30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044322-EE5F-CA87-696A-CC55F2ADC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0DD20D-3027-3F5A-2447-8C055279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85" y="624612"/>
            <a:ext cx="5767806" cy="1325563"/>
          </a:xfrm>
        </p:spPr>
        <p:txBody>
          <a:bodyPr>
            <a:noAutofit/>
          </a:bodyPr>
          <a:lstStyle/>
          <a:p>
            <a:pPr latinLnBrk="1"/>
            <a:br>
              <a:rPr lang="en-GB" sz="3200" b="1" dirty="0"/>
            </a:br>
            <a:r>
              <a:rPr lang="en-GB" sz="4000" b="1" dirty="0"/>
              <a:t>Comparison</a:t>
            </a:r>
            <a:r>
              <a:rPr lang="en-GB" sz="3200" b="1" dirty="0"/>
              <a:t> </a:t>
            </a:r>
            <a:br>
              <a:rPr lang="en-GB" sz="3200" dirty="0"/>
            </a:br>
            <a:r>
              <a:rPr lang="en-GB" sz="3200" dirty="0"/>
              <a:t>Three Methods from SQUIRREL</a:t>
            </a:r>
            <a:endParaRPr lang="en-GB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2A863-D6F7-5504-CCF6-E24D89DB0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698" y="731947"/>
            <a:ext cx="4739217" cy="1554053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722027F2-0C8C-44F3-8424-E862E61E4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85698" y="2574787"/>
            <a:ext cx="10701168" cy="382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87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6F78-08EE-9B4C-7B46-42220D3F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C2A37D-8AB8-3606-F931-2DDAF7D07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D32C00-9E07-F02B-3BEC-C5E8C1A4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698" y="586682"/>
            <a:ext cx="5510302" cy="1325563"/>
          </a:xfrm>
        </p:spPr>
        <p:txBody>
          <a:bodyPr>
            <a:normAutofit/>
          </a:bodyPr>
          <a:lstStyle/>
          <a:p>
            <a:pPr latinLnBrk="1"/>
            <a:r>
              <a:rPr lang="en-GB" sz="4000" b="1" dirty="0"/>
              <a:t>Why SDAA good?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BE0FB-C130-75CD-29CC-F11CDC60B98B}"/>
              </a:ext>
            </a:extLst>
          </p:cNvPr>
          <p:cNvSpPr txBox="1"/>
          <p:nvPr/>
        </p:nvSpPr>
        <p:spPr>
          <a:xfrm>
            <a:off x="585698" y="1770355"/>
            <a:ext cx="111911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Results Summary: 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Same satisfaction as Average (0.791) 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Lower disagreement (-1.7%) 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Highest reward (+1.8%)</a:t>
            </a:r>
          </a:p>
          <a:p>
            <a:endParaRPr lang="en-GB" sz="2400" dirty="0"/>
          </a:p>
          <a:p>
            <a:r>
              <a:rPr lang="en-GB" sz="2400" dirty="0"/>
              <a:t>Among the three SQUIRREL methods we implemented:</a:t>
            </a:r>
          </a:p>
          <a:p>
            <a:r>
              <a:rPr lang="en-GB" sz="2400" dirty="0"/>
              <a:t>    ⭐️ SDAA achieves best balance</a:t>
            </a:r>
          </a:p>
          <a:p>
            <a:r>
              <a:rPr lang="en-GB" sz="2400" dirty="0"/>
              <a:t>   - Memory: Tracks cumulative satisfaction</a:t>
            </a:r>
          </a:p>
          <a:p>
            <a:r>
              <a:rPr lang="en-GB" sz="2400" dirty="0"/>
              <a:t>   - Adaptive: Dynamic weight adjustment</a:t>
            </a:r>
          </a:p>
          <a:p>
            <a:r>
              <a:rPr lang="en-GB" sz="2400" dirty="0"/>
              <a:t>   - Balanced: Fairness + Quality</a:t>
            </a:r>
          </a:p>
          <a:p>
            <a:endParaRPr lang="en-GB" sz="2400" dirty="0"/>
          </a:p>
          <a:p>
            <a:r>
              <a:rPr lang="en-GB" sz="2000" dirty="0"/>
              <a:t>SDAA outperforms both Average and Least Misery</a:t>
            </a:r>
            <a:r>
              <a:rPr lang="zh-CN" altLang="en-US" sz="2000" dirty="0"/>
              <a:t> </a:t>
            </a:r>
            <a:r>
              <a:rPr lang="en-GB" sz="2000" dirty="0"/>
              <a:t>in terms of reward and disagreement reduction.</a:t>
            </a:r>
          </a:p>
          <a:p>
            <a:endParaRPr lang="en-FI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535078-4524-DFF5-C928-79FA743AC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221" y="825621"/>
            <a:ext cx="2339992" cy="28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6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316</Words>
  <Application>Microsoft Macintosh PowerPoint</Application>
  <PresentationFormat>Widescreen</PresentationFormat>
  <Paragraphs>57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Sequential Group Recommendation with SDAA</vt:lpstr>
      <vt:lpstr>From Static to Dynamic Group Recommendations</vt:lpstr>
      <vt:lpstr>SDAA Method Design (from SQUIRREL Framework)</vt:lpstr>
      <vt:lpstr>Testing users [1, 414, 599] </vt:lpstr>
      <vt:lpstr> Comparison  Three Methods from SQUIRREL</vt:lpstr>
      <vt:lpstr>Why SDAA good?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Xiaosi Huang</dc:creator>
  <cp:lastModifiedBy>Xiaosi Huang</cp:lastModifiedBy>
  <cp:revision>8</cp:revision>
  <dcterms:created xsi:type="dcterms:W3CDTF">2025-11-04T08:51:58Z</dcterms:created>
  <dcterms:modified xsi:type="dcterms:W3CDTF">2025-11-12T17:14:11Z</dcterms:modified>
</cp:coreProperties>
</file>