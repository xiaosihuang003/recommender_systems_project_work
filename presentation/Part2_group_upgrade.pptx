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2"/>
    <p:sldId id="273" r:id="rId3"/>
    <p:sldId id="277" r:id="rId4"/>
    <p:sldId id="269" r:id="rId5"/>
    <p:sldId id="261" r:id="rId6"/>
    <p:sldId id="275" r:id="rId7"/>
    <p:sldId id="276" r:id="rId8"/>
  </p:sldIdLst>
  <p:sldSz cx="12192000" cy="6858000"/>
  <p:notesSz cx="6858000" cy="9144000"/>
  <p:defaultTextStyle>
    <a:defPPr>
      <a:defRPr lang="en-FI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3292"/>
    <p:restoredTop sz="94650"/>
  </p:normalViewPr>
  <p:slideViewPr>
    <p:cSldViewPr snapToGrid="0">
      <p:cViewPr varScale="1">
        <p:scale>
          <a:sx n="114" d="100"/>
          <a:sy n="114" d="100"/>
        </p:scale>
        <p:origin x="168" y="3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FI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FAA1530-BBF0-F94D-A458-1B9B062BF84B}" type="datetimeFigureOut">
              <a:rPr lang="en-FI" smtClean="0"/>
              <a:t>5.12.2025</a:t>
            </a:fld>
            <a:endParaRPr lang="en-FI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FI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FI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FI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986FA6B-2CB6-414F-9C23-CA78BF04C563}" type="slidenum">
              <a:rPr lang="en-FI" smtClean="0"/>
              <a:t>‹#›</a:t>
            </a:fld>
            <a:endParaRPr lang="en-FI"/>
          </a:p>
        </p:txBody>
      </p:sp>
    </p:spTree>
    <p:extLst>
      <p:ext uri="{BB962C8B-B14F-4D97-AF65-F5344CB8AC3E}">
        <p14:creationId xmlns:p14="http://schemas.microsoft.com/office/powerpoint/2010/main" val="96461884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FI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86FA6B-2CB6-414F-9C23-CA78BF04C563}" type="slidenum">
              <a:rPr lang="en-FI" smtClean="0"/>
              <a:t>1</a:t>
            </a:fld>
            <a:endParaRPr lang="en-FI"/>
          </a:p>
        </p:txBody>
      </p:sp>
    </p:spTree>
    <p:extLst>
      <p:ext uri="{BB962C8B-B14F-4D97-AF65-F5344CB8AC3E}">
        <p14:creationId xmlns:p14="http://schemas.microsoft.com/office/powerpoint/2010/main" val="22331469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D83151-7DD6-5C9E-729A-1C1E0BFF5C1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FI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796F3E3-9B7B-46EC-7A81-E162F69CA25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FI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2B0B239-5CF2-7E8C-1009-736A933E39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A18288-B85B-2D44-B86D-F3A0FAFA3DFF}" type="datetimeFigureOut">
              <a:rPr lang="en-FI" smtClean="0"/>
              <a:t>5.12.2025</a:t>
            </a:fld>
            <a:endParaRPr lang="en-FI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4E6177-1556-C573-9B6A-014F704E82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I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803E6EC-6A1C-8A61-9094-497C308EA7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5C61A3-E0C5-9F47-BC7F-F745DADAC858}" type="slidenum">
              <a:rPr lang="en-FI" smtClean="0"/>
              <a:t>‹#›</a:t>
            </a:fld>
            <a:endParaRPr lang="en-FI"/>
          </a:p>
        </p:txBody>
      </p:sp>
    </p:spTree>
    <p:extLst>
      <p:ext uri="{BB962C8B-B14F-4D97-AF65-F5344CB8AC3E}">
        <p14:creationId xmlns:p14="http://schemas.microsoft.com/office/powerpoint/2010/main" val="16614120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7D9DA5-2A7E-2337-3DF3-BE7345DDFF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FI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1439C7-685F-2BBB-5F0B-32AC67B88F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FI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B38AF33-F6AE-CDC3-3844-B2AECF7CAC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A18288-B85B-2D44-B86D-F3A0FAFA3DFF}" type="datetimeFigureOut">
              <a:rPr lang="en-FI" smtClean="0"/>
              <a:t>5.12.2025</a:t>
            </a:fld>
            <a:endParaRPr lang="en-FI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72DF6A7-E63A-308C-D0E3-154F2EC28C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I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DD63C74-7E67-4974-6804-8060BA3649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5C61A3-E0C5-9F47-BC7F-F745DADAC858}" type="slidenum">
              <a:rPr lang="en-FI" smtClean="0"/>
              <a:t>‹#›</a:t>
            </a:fld>
            <a:endParaRPr lang="en-FI"/>
          </a:p>
        </p:txBody>
      </p:sp>
    </p:spTree>
    <p:extLst>
      <p:ext uri="{BB962C8B-B14F-4D97-AF65-F5344CB8AC3E}">
        <p14:creationId xmlns:p14="http://schemas.microsoft.com/office/powerpoint/2010/main" val="31607820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5EA0BB-23D3-7AA2-9AFB-1AF154FEBC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FI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4E476CA-4BFB-0721-5283-11C558204DA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913E7A9-1ABA-D2FF-FBFA-6F983E60C7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A18288-B85B-2D44-B86D-F3A0FAFA3DFF}" type="datetimeFigureOut">
              <a:rPr lang="en-FI" smtClean="0"/>
              <a:t>5.12.2025</a:t>
            </a:fld>
            <a:endParaRPr lang="en-FI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6B8A1A-466A-82FF-EB4A-8475012010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I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DAEF1DF-2806-481F-6CE5-1CAE9FD51B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5C61A3-E0C5-9F47-BC7F-F745DADAC858}" type="slidenum">
              <a:rPr lang="en-FI" smtClean="0"/>
              <a:t>‹#›</a:t>
            </a:fld>
            <a:endParaRPr lang="en-FI"/>
          </a:p>
        </p:txBody>
      </p:sp>
    </p:spTree>
    <p:extLst>
      <p:ext uri="{BB962C8B-B14F-4D97-AF65-F5344CB8AC3E}">
        <p14:creationId xmlns:p14="http://schemas.microsoft.com/office/powerpoint/2010/main" val="19914450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EDCFCD-0FBD-C3AE-4D19-16AE39203E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FI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4D1DD4-B3A2-1719-6407-79D9E90B276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FI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9F86BA4-EB5B-851C-F5FF-89DB08ABE10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FI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D7A2C7E-3711-EEED-A59A-EE54AA79CC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A18288-B85B-2D44-B86D-F3A0FAFA3DFF}" type="datetimeFigureOut">
              <a:rPr lang="en-FI" smtClean="0"/>
              <a:t>5.12.2025</a:t>
            </a:fld>
            <a:endParaRPr lang="en-FI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1A4867A-2DAA-543B-1782-6C1CCD8C53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I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B1D8CF6-D06F-047F-E694-72A026C6C6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5C61A3-E0C5-9F47-BC7F-F745DADAC858}" type="slidenum">
              <a:rPr lang="en-FI" smtClean="0"/>
              <a:t>‹#›</a:t>
            </a:fld>
            <a:endParaRPr lang="en-FI"/>
          </a:p>
        </p:txBody>
      </p:sp>
    </p:spTree>
    <p:extLst>
      <p:ext uri="{BB962C8B-B14F-4D97-AF65-F5344CB8AC3E}">
        <p14:creationId xmlns:p14="http://schemas.microsoft.com/office/powerpoint/2010/main" val="34334012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5C3FBC-0B0C-1265-C49F-21D6604E22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FI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532C91B-F71C-C686-0C11-A0FD405371D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51CB0D5-0166-3625-2010-EBFA4DFA7D1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FI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CDE1A29-B398-3A6E-24EF-512AE53D7A9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1CC4B45-5F75-59A0-5D5B-F0048A999C2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FI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F8F5FFB-D8C1-4792-F524-86AECC77C0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A18288-B85B-2D44-B86D-F3A0FAFA3DFF}" type="datetimeFigureOut">
              <a:rPr lang="en-FI" smtClean="0"/>
              <a:t>5.12.2025</a:t>
            </a:fld>
            <a:endParaRPr lang="en-FI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0544798-C844-5D44-5E48-306C190F53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I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5D763AC-163C-DCA0-602D-8EA404442C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5C61A3-E0C5-9F47-BC7F-F745DADAC858}" type="slidenum">
              <a:rPr lang="en-FI" smtClean="0"/>
              <a:t>‹#›</a:t>
            </a:fld>
            <a:endParaRPr lang="en-FI"/>
          </a:p>
        </p:txBody>
      </p:sp>
    </p:spTree>
    <p:extLst>
      <p:ext uri="{BB962C8B-B14F-4D97-AF65-F5344CB8AC3E}">
        <p14:creationId xmlns:p14="http://schemas.microsoft.com/office/powerpoint/2010/main" val="369098470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1E887B-60B6-9862-71EA-3A97B5964B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FI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C8DDB5A-7E10-7A3F-BB1E-0510D15D82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A18288-B85B-2D44-B86D-F3A0FAFA3DFF}" type="datetimeFigureOut">
              <a:rPr lang="en-FI" smtClean="0"/>
              <a:t>5.12.2025</a:t>
            </a:fld>
            <a:endParaRPr lang="en-FI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E850EFD-C447-FF32-6C9C-8DC5B06CAC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I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89086C1-8B2C-868A-5E4D-79744E6665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5C61A3-E0C5-9F47-BC7F-F745DADAC858}" type="slidenum">
              <a:rPr lang="en-FI" smtClean="0"/>
              <a:t>‹#›</a:t>
            </a:fld>
            <a:endParaRPr lang="en-FI"/>
          </a:p>
        </p:txBody>
      </p:sp>
    </p:spTree>
    <p:extLst>
      <p:ext uri="{BB962C8B-B14F-4D97-AF65-F5344CB8AC3E}">
        <p14:creationId xmlns:p14="http://schemas.microsoft.com/office/powerpoint/2010/main" val="39567649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64FCB75-EC9C-76E7-D93A-AA5B4D98ED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A18288-B85B-2D44-B86D-F3A0FAFA3DFF}" type="datetimeFigureOut">
              <a:rPr lang="en-FI" smtClean="0"/>
              <a:t>5.12.2025</a:t>
            </a:fld>
            <a:endParaRPr lang="en-FI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A858BBD-D243-6A0C-1C1E-4C32181952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I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185FAC-61EF-2DCA-C326-49DA7D2FD5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5C61A3-E0C5-9F47-BC7F-F745DADAC858}" type="slidenum">
              <a:rPr lang="en-FI" smtClean="0"/>
              <a:t>‹#›</a:t>
            </a:fld>
            <a:endParaRPr lang="en-FI"/>
          </a:p>
        </p:txBody>
      </p:sp>
    </p:spTree>
    <p:extLst>
      <p:ext uri="{BB962C8B-B14F-4D97-AF65-F5344CB8AC3E}">
        <p14:creationId xmlns:p14="http://schemas.microsoft.com/office/powerpoint/2010/main" val="33098273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0342D1-84FE-40F7-C0A8-5CA2580E19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FI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9655A3-4CAC-2DF6-12A1-DA550C93B4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FI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ADB2DE7-A623-6385-DA52-D253DEDB8EE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527D5D-097A-0DCE-2EA0-0FF87DFABE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A18288-B85B-2D44-B86D-F3A0FAFA3DFF}" type="datetimeFigureOut">
              <a:rPr lang="en-FI" smtClean="0"/>
              <a:t>5.12.2025</a:t>
            </a:fld>
            <a:endParaRPr lang="en-FI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B0E7142-B2A6-7C51-064C-D211F483CF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I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D4E4260-E9C6-0BBF-2C6F-73C718BD95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5C61A3-E0C5-9F47-BC7F-F745DADAC858}" type="slidenum">
              <a:rPr lang="en-FI" smtClean="0"/>
              <a:t>‹#›</a:t>
            </a:fld>
            <a:endParaRPr lang="en-FI"/>
          </a:p>
        </p:txBody>
      </p:sp>
    </p:spTree>
    <p:extLst>
      <p:ext uri="{BB962C8B-B14F-4D97-AF65-F5344CB8AC3E}">
        <p14:creationId xmlns:p14="http://schemas.microsoft.com/office/powerpoint/2010/main" val="202889274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491B61-1E4D-F745-9647-85E4283C0D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FI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A9975E0-321A-7FFC-1DE9-6549B701932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FI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3D5E3C9-FF72-E28D-30B5-734FA09EA15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CEEA571-27B8-0962-A546-C8FCECBFF7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A18288-B85B-2D44-B86D-F3A0FAFA3DFF}" type="datetimeFigureOut">
              <a:rPr lang="en-FI" smtClean="0"/>
              <a:t>5.12.2025</a:t>
            </a:fld>
            <a:endParaRPr lang="en-FI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8FCD74E-C480-14AA-622B-35AE33B011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I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6ECAC5C-19AE-6843-6A87-9FFE5400B3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5C61A3-E0C5-9F47-BC7F-F745DADAC858}" type="slidenum">
              <a:rPr lang="en-FI" smtClean="0"/>
              <a:t>‹#›</a:t>
            </a:fld>
            <a:endParaRPr lang="en-FI"/>
          </a:p>
        </p:txBody>
      </p:sp>
    </p:spTree>
    <p:extLst>
      <p:ext uri="{BB962C8B-B14F-4D97-AF65-F5344CB8AC3E}">
        <p14:creationId xmlns:p14="http://schemas.microsoft.com/office/powerpoint/2010/main" val="153785177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02A60A-3255-CE29-7CB3-4C01DEA188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FI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54D1556-CC33-06CD-0633-2174E519DD4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FI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E3E461-8C7F-5336-7FD6-C464D642F2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A18288-B85B-2D44-B86D-F3A0FAFA3DFF}" type="datetimeFigureOut">
              <a:rPr lang="en-FI" smtClean="0"/>
              <a:t>5.12.2025</a:t>
            </a:fld>
            <a:endParaRPr lang="en-FI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5C193F7-A2E3-0002-3DD3-23C3B6C927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I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BA402E3-51E2-7DEE-4128-E2D6D1C554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5C61A3-E0C5-9F47-BC7F-F745DADAC858}" type="slidenum">
              <a:rPr lang="en-FI" smtClean="0"/>
              <a:t>‹#›</a:t>
            </a:fld>
            <a:endParaRPr lang="en-FI"/>
          </a:p>
        </p:txBody>
      </p:sp>
    </p:spTree>
    <p:extLst>
      <p:ext uri="{BB962C8B-B14F-4D97-AF65-F5344CB8AC3E}">
        <p14:creationId xmlns:p14="http://schemas.microsoft.com/office/powerpoint/2010/main" val="327518182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63C67C0-7ED7-3726-525E-16894C859AD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FI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0164C7A-5547-42B2-A6EC-02BDDCA3B50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FI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CF71F6-B358-0537-EB6F-FE36CA13DA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A18288-B85B-2D44-B86D-F3A0FAFA3DFF}" type="datetimeFigureOut">
              <a:rPr lang="en-FI" smtClean="0"/>
              <a:t>5.12.2025</a:t>
            </a:fld>
            <a:endParaRPr lang="en-FI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0A99216-DAAF-62E7-43BC-7303F2BED4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I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011D33-C073-1FB6-C0D4-AAC71F2AA9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5C61A3-E0C5-9F47-BC7F-F745DADAC858}" type="slidenum">
              <a:rPr lang="en-FI" smtClean="0"/>
              <a:t>‹#›</a:t>
            </a:fld>
            <a:endParaRPr lang="en-FI"/>
          </a:p>
        </p:txBody>
      </p:sp>
    </p:spTree>
    <p:extLst>
      <p:ext uri="{BB962C8B-B14F-4D97-AF65-F5344CB8AC3E}">
        <p14:creationId xmlns:p14="http://schemas.microsoft.com/office/powerpoint/2010/main" val="333323615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99BB8D7-8003-1964-3E7C-09FFB970D6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FI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5073B9C-3C4F-96E1-A3F2-6ACEA2CFAB3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FI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FE2C3E-3FE3-B4C0-955A-DE6FC017C2D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5A18288-B85B-2D44-B86D-F3A0FAFA3DFF}" type="datetimeFigureOut">
              <a:rPr lang="en-FI" smtClean="0"/>
              <a:t>5.12.2025</a:t>
            </a:fld>
            <a:endParaRPr lang="en-FI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C2C053-EB03-52B6-DC93-4B2BFE02C57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FI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D85778-437F-4CCD-C912-15F48354E9D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75C61A3-E0C5-9F47-BC7F-F745DADAC858}" type="slidenum">
              <a:rPr lang="en-FI" smtClean="0"/>
              <a:t>‹#›</a:t>
            </a:fld>
            <a:endParaRPr lang="en-FI"/>
          </a:p>
        </p:txBody>
      </p:sp>
    </p:spTree>
    <p:extLst>
      <p:ext uri="{BB962C8B-B14F-4D97-AF65-F5344CB8AC3E}">
        <p14:creationId xmlns:p14="http://schemas.microsoft.com/office/powerpoint/2010/main" val="18592428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FI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5648FE0F-221E-AE63-C1BA-CB695A67AA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1"/>
            <a:ext cx="12192000" cy="685800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1FAC650-DDE8-B0D7-77F5-AAC72A537E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1956" y="448371"/>
            <a:ext cx="10908088" cy="1001712"/>
          </a:xfrm>
        </p:spPr>
        <p:txBody>
          <a:bodyPr>
            <a:normAutofit/>
          </a:bodyPr>
          <a:lstStyle/>
          <a:p>
            <a:pPr algn="l"/>
            <a:r>
              <a:rPr lang="en-GB" sz="4400" b="1" dirty="0"/>
              <a:t>Sequential Group Recommendation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F9F74C2-4B12-E370-7C2F-725D3A2CA65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41956" y="3578863"/>
            <a:ext cx="7481452" cy="1150356"/>
          </a:xfrm>
        </p:spPr>
        <p:txBody>
          <a:bodyPr>
            <a:normAutofit lnSpcReduction="10000"/>
          </a:bodyPr>
          <a:lstStyle/>
          <a:p>
            <a:pPr marL="342900" indent="-342900" algn="l">
              <a:buFontTx/>
              <a:buChar char="-"/>
            </a:pPr>
            <a:r>
              <a:rPr lang="en-GB" sz="2000" dirty="0"/>
              <a:t>Students: Oskari </a:t>
            </a:r>
            <a:r>
              <a:rPr lang="en-GB" sz="2000" dirty="0" err="1"/>
              <a:t>Perikangas</a:t>
            </a:r>
            <a:r>
              <a:rPr lang="en-US" sz="2000" dirty="0"/>
              <a:t>,</a:t>
            </a:r>
            <a:r>
              <a:rPr lang="en-GB" sz="2000" dirty="0"/>
              <a:t> Xiaosi Huang</a:t>
            </a:r>
          </a:p>
          <a:p>
            <a:pPr marL="342900" indent="-342900" algn="l">
              <a:buFontTx/>
              <a:buChar char="-"/>
            </a:pPr>
            <a:r>
              <a:rPr lang="en-GB" sz="2000" dirty="0"/>
              <a:t>Course: DATA.ML.360-2025-2026-1 Recommender Systems</a:t>
            </a:r>
          </a:p>
          <a:p>
            <a:pPr marL="342900" indent="-342900" algn="l">
              <a:buFontTx/>
              <a:buChar char="-"/>
            </a:pPr>
            <a:r>
              <a:rPr lang="en-GB" sz="2000" dirty="0"/>
              <a:t>Date: December 5th, 2025 </a:t>
            </a:r>
            <a:endParaRPr lang="en-FI" sz="20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B44213C-E423-4691-0541-A6F51D587CA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68566" y="2612467"/>
            <a:ext cx="3284453" cy="3083148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109EBB0B-067B-107C-113E-E5BB20EC345F}"/>
              </a:ext>
            </a:extLst>
          </p:cNvPr>
          <p:cNvSpPr txBox="1"/>
          <p:nvPr/>
        </p:nvSpPr>
        <p:spPr>
          <a:xfrm>
            <a:off x="641956" y="1563817"/>
            <a:ext cx="784509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rgbClr val="00B0F0"/>
                </a:solidFill>
              </a:rPr>
              <a:t>PFA: Proportional Fairness Aggregation (NEW METHOD)</a:t>
            </a:r>
          </a:p>
        </p:txBody>
      </p:sp>
    </p:spTree>
    <p:extLst>
      <p:ext uri="{BB962C8B-B14F-4D97-AF65-F5344CB8AC3E}">
        <p14:creationId xmlns:p14="http://schemas.microsoft.com/office/powerpoint/2010/main" val="183153391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470F5C-44C4-7AD5-B3D4-ED9F99EDA6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7C1DC88-CB53-B4C2-B329-CE125B5F78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E5DB6B4-A916-DFF2-E6ED-72B7C85D00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5726" y="177125"/>
            <a:ext cx="10515600" cy="1325563"/>
          </a:xfrm>
        </p:spPr>
        <p:txBody>
          <a:bodyPr>
            <a:normAutofit/>
          </a:bodyPr>
          <a:lstStyle/>
          <a:p>
            <a:r>
              <a:rPr lang="en-GB" sz="4000" b="1" dirty="0"/>
              <a:t>PFA Theory</a:t>
            </a:r>
            <a:br>
              <a:rPr lang="en-GB" sz="3600" dirty="0"/>
            </a:br>
            <a:r>
              <a:rPr lang="en-GB" sz="2800" b="1" dirty="0">
                <a:solidFill>
                  <a:srgbClr val="00B0F0"/>
                </a:solidFill>
              </a:rPr>
              <a:t>Proportional Fairness Aggregation (PFA)</a:t>
            </a:r>
            <a:endParaRPr lang="en-GB" sz="3600" b="1" dirty="0">
              <a:solidFill>
                <a:srgbClr val="00B0F0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A726FA2-3746-99E9-F339-496FB049AD84}"/>
              </a:ext>
            </a:extLst>
          </p:cNvPr>
          <p:cNvSpPr txBox="1"/>
          <p:nvPr/>
        </p:nvSpPr>
        <p:spPr>
          <a:xfrm>
            <a:off x="795726" y="1441619"/>
            <a:ext cx="11502291" cy="53553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GB" b="1" dirty="0"/>
              <a:t>Core Innovation: </a:t>
            </a:r>
            <a:r>
              <a:rPr lang="en-GB" dirty="0"/>
              <a:t>Geometric Mean Aggregation</a:t>
            </a:r>
          </a:p>
          <a:p>
            <a:pPr latinLnBrk="1"/>
            <a:r>
              <a:rPr lang="en-GB" dirty="0"/>
              <a:t>SDAA:  score = (w₁·p₁ + w₂·p₂ + w₃·p₃) / </a:t>
            </a:r>
            <a:r>
              <a:rPr lang="el-GR" dirty="0"/>
              <a:t>Σ</a:t>
            </a:r>
            <a:r>
              <a:rPr lang="en-GB" dirty="0"/>
              <a:t>w  [Arithmetic]</a:t>
            </a:r>
            <a:endParaRPr lang="en-US" dirty="0"/>
          </a:p>
          <a:p>
            <a:pPr latinLnBrk="1"/>
            <a:r>
              <a:rPr lang="zh-CN" altLang="en-US" dirty="0"/>
              <a:t>               </a:t>
            </a:r>
            <a:r>
              <a:rPr lang="en-GB" altLang="zh-CN" dirty="0"/>
              <a:t>aggregate preferences in a way that overlooks individual dissatisfaction.</a:t>
            </a:r>
            <a:endParaRPr lang="en-GB" dirty="0"/>
          </a:p>
          <a:p>
            <a:pPr latinLnBrk="1"/>
            <a:r>
              <a:rPr lang="en-GB" dirty="0"/>
              <a:t>PFA:     score = (p₁^w₁ × p₂^w₂ × p₃^w₃)^(1/</a:t>
            </a:r>
            <a:r>
              <a:rPr lang="el-GR" dirty="0"/>
              <a:t>Σ</a:t>
            </a:r>
            <a:r>
              <a:rPr lang="en-GB" dirty="0"/>
              <a:t>w)  [Geometric]</a:t>
            </a:r>
          </a:p>
          <a:p>
            <a:pPr latinLnBrk="1"/>
            <a:r>
              <a:rPr lang="zh-CN" altLang="en-US" dirty="0"/>
              <a:t>              </a:t>
            </a:r>
            <a:r>
              <a:rPr lang="en-GB" altLang="zh-CN" dirty="0"/>
              <a:t> more sensitive to low values</a:t>
            </a:r>
            <a:r>
              <a:rPr lang="en-US" altLang="zh-CN" dirty="0"/>
              <a:t>,</a:t>
            </a:r>
            <a:r>
              <a:rPr lang="zh-CN" altLang="en-US" dirty="0"/>
              <a:t> </a:t>
            </a:r>
            <a:r>
              <a:rPr lang="en-GB" altLang="zh-CN" dirty="0"/>
              <a:t>reveal and address unfairness across group members.</a:t>
            </a:r>
            <a:endParaRPr lang="en-GB" dirty="0"/>
          </a:p>
          <a:p>
            <a:pPr latinLnBrk="1"/>
            <a:endParaRPr lang="en-GB" dirty="0"/>
          </a:p>
          <a:p>
            <a:pPr latinLnBrk="1"/>
            <a:r>
              <a:rPr lang="en-GB" b="1" dirty="0"/>
              <a:t>Why Geometric Mean?</a:t>
            </a:r>
          </a:p>
          <a:p>
            <a:pPr latinLnBrk="1"/>
            <a:r>
              <a:rPr lang="en-GB" dirty="0"/>
              <a:t>- Automatically penalizes imbalanced predictions</a:t>
            </a:r>
          </a:p>
          <a:p>
            <a:pPr latinLnBrk="1"/>
            <a:r>
              <a:rPr lang="en-GB" dirty="0"/>
              <a:t>- Example: predictions [2.0, 5.0, 4.0]</a:t>
            </a:r>
          </a:p>
          <a:p>
            <a:pPr latinLnBrk="1"/>
            <a:r>
              <a:rPr lang="en-GB" dirty="0"/>
              <a:t>  - Arithmetic: 3.67 (hides imbalance)</a:t>
            </a:r>
          </a:p>
          <a:p>
            <a:pPr latinLnBrk="1"/>
            <a:r>
              <a:rPr lang="en-GB" dirty="0"/>
              <a:t>  - Geometric: 3.42 (lower score reflects unfairness)</a:t>
            </a:r>
          </a:p>
          <a:p>
            <a:pPr latinLnBrk="1"/>
            <a:endParaRPr lang="en-GB" dirty="0"/>
          </a:p>
          <a:p>
            <a:pPr latinLnBrk="1"/>
            <a:r>
              <a:rPr lang="en-GB" b="1" dirty="0"/>
              <a:t>Two-Phase Design:</a:t>
            </a:r>
          </a:p>
          <a:p>
            <a:pPr latinLnBrk="1"/>
            <a:r>
              <a:rPr lang="en-GB" dirty="0"/>
              <a:t>1. Phase 1: Average aggregation filters top candidates (quality)</a:t>
            </a:r>
          </a:p>
          <a:p>
            <a:pPr latinLnBrk="1"/>
            <a:r>
              <a:rPr lang="en-GB" dirty="0"/>
              <a:t>2. Phase 2: Geometric mean selects final items (fairness)</a:t>
            </a:r>
          </a:p>
          <a:p>
            <a:pPr latinLnBrk="1"/>
            <a:endParaRPr lang="en-GB" dirty="0"/>
          </a:p>
          <a:p>
            <a:pPr latinLnBrk="1"/>
            <a:r>
              <a:rPr lang="en-GB" b="1" dirty="0"/>
              <a:t>Dynamic Weights:</a:t>
            </a:r>
          </a:p>
          <a:p>
            <a:pPr latinLnBrk="1"/>
            <a:r>
              <a:rPr lang="en-GB" dirty="0"/>
              <a:t>Gap-based adjustment: users below average get higher weights</a:t>
            </a:r>
          </a:p>
          <a:p>
            <a:pPr latinLnBrk="1"/>
            <a:r>
              <a:rPr lang="en-GB" dirty="0"/>
              <a:t>Self-correcting over rounds</a:t>
            </a:r>
            <a:r>
              <a:rPr lang="zh-CN" altLang="en-US" dirty="0"/>
              <a:t> </a:t>
            </a:r>
            <a:r>
              <a:rPr lang="en-GB" dirty="0"/>
              <a:t>: prevents cumulative unfairness</a:t>
            </a:r>
            <a:endParaRPr lang="en-FI" dirty="0"/>
          </a:p>
        </p:txBody>
      </p:sp>
    </p:spTree>
    <p:extLst>
      <p:ext uri="{BB962C8B-B14F-4D97-AF65-F5344CB8AC3E}">
        <p14:creationId xmlns:p14="http://schemas.microsoft.com/office/powerpoint/2010/main" val="377983664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A63BDA-F94E-1303-4229-16E648BE15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D19476D-272B-38A3-8E2B-5F4EF51E39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F14DDB6-3303-68B8-89E7-3160D8ED9F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5726" y="0"/>
            <a:ext cx="10515600" cy="1325563"/>
          </a:xfrm>
        </p:spPr>
        <p:txBody>
          <a:bodyPr>
            <a:normAutofit/>
          </a:bodyPr>
          <a:lstStyle/>
          <a:p>
            <a:r>
              <a:rPr lang="en-GB" sz="3600" b="1" dirty="0"/>
              <a:t>PFA Implementation : Sequential Workflow</a:t>
            </a:r>
            <a:br>
              <a:rPr lang="en-GB" sz="3600" dirty="0"/>
            </a:br>
            <a:r>
              <a:rPr lang="en-GB" sz="2800" b="1" dirty="0">
                <a:solidFill>
                  <a:srgbClr val="00B0F0"/>
                </a:solidFill>
              </a:rPr>
              <a:t>Proportional Fairness Aggregation (PFA)</a:t>
            </a:r>
            <a:endParaRPr lang="en-GB" sz="3600" b="1" dirty="0">
              <a:solidFill>
                <a:srgbClr val="00B0F0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2C4B97C-7F25-F203-C249-E917484B03EB}"/>
              </a:ext>
            </a:extLst>
          </p:cNvPr>
          <p:cNvSpPr txBox="1"/>
          <p:nvPr/>
        </p:nvSpPr>
        <p:spPr>
          <a:xfrm>
            <a:off x="795725" y="1119471"/>
            <a:ext cx="10375858" cy="56323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GB" b="1" dirty="0"/>
              <a:t>Round 1: Initialize</a:t>
            </a:r>
          </a:p>
          <a:p>
            <a:pPr latinLnBrk="1"/>
            <a:r>
              <a:rPr lang="en-GB" dirty="0"/>
              <a:t>  ✓ All users start with equal weights [1.0, 1.0, 1.0]</a:t>
            </a:r>
          </a:p>
          <a:p>
            <a:pPr latinLnBrk="1"/>
            <a:r>
              <a:rPr lang="en-GB" dirty="0"/>
              <a:t>  ✓ Predict ratings for all candidate movies. Recommend top-k items using PFA</a:t>
            </a:r>
          </a:p>
          <a:p>
            <a:pPr latinLnBrk="1"/>
            <a:endParaRPr lang="en-GB" dirty="0"/>
          </a:p>
          <a:p>
            <a:pPr latinLnBrk="1"/>
            <a:r>
              <a:rPr lang="en-GB" b="1" dirty="0"/>
              <a:t>Each Round (2-10): Four-Step Process</a:t>
            </a:r>
          </a:p>
          <a:p>
            <a:pPr latinLnBrk="1"/>
            <a:r>
              <a:rPr lang="en-GB" dirty="0"/>
              <a:t>  </a:t>
            </a:r>
            <a:r>
              <a:rPr lang="en-GB" b="1" dirty="0"/>
              <a:t>Step 1: Calculate Dynamic Weights</a:t>
            </a:r>
          </a:p>
          <a:p>
            <a:pPr latinLnBrk="1"/>
            <a:r>
              <a:rPr lang="en-GB" dirty="0"/>
              <a:t>    → Check each user's cumulative satisfaction</a:t>
            </a:r>
          </a:p>
          <a:p>
            <a:pPr latinLnBrk="1"/>
            <a:r>
              <a:rPr lang="en-GB" dirty="0"/>
              <a:t>    → Users below average → higher weights (e.g., 1.4)</a:t>
            </a:r>
          </a:p>
          <a:p>
            <a:pPr latinLnBrk="1"/>
            <a:r>
              <a:rPr lang="en-GB" dirty="0"/>
              <a:t>    → Users above average → lower weights (e.g., 0.8)</a:t>
            </a:r>
          </a:p>
          <a:p>
            <a:pPr latinLnBrk="1"/>
            <a:r>
              <a:rPr lang="en-GB" dirty="0"/>
              <a:t>    Example: Round 2 weights = [0.43, 0.17, 0.40]. User 39 had highest satisfaction → lowest weight</a:t>
            </a:r>
          </a:p>
          <a:p>
            <a:pPr latinLnBrk="1"/>
            <a:r>
              <a:rPr lang="en-GB" dirty="0"/>
              <a:t>  </a:t>
            </a:r>
            <a:r>
              <a:rPr lang="en-GB" b="1" dirty="0"/>
              <a:t>Step 2: Phase 1 - Quality Filter</a:t>
            </a:r>
          </a:p>
          <a:p>
            <a:pPr latinLnBrk="1"/>
            <a:r>
              <a:rPr lang="en-GB" dirty="0"/>
              <a:t>    → Use simple average: score = (p₁ + p₂ + p₃) / 3</a:t>
            </a:r>
          </a:p>
          <a:p>
            <a:pPr latinLnBrk="1"/>
            <a:r>
              <a:rPr lang="en-GB" dirty="0"/>
              <a:t>    → Select top k×3 candidates (e.g., 15 movies). Ensures we only consider good items</a:t>
            </a:r>
          </a:p>
          <a:p>
            <a:pPr latinLnBrk="1"/>
            <a:r>
              <a:rPr lang="en-GB" dirty="0"/>
              <a:t>  </a:t>
            </a:r>
            <a:r>
              <a:rPr lang="en-GB" b="1" dirty="0"/>
              <a:t>Step 3: Phase 2 - Fairness Optimization</a:t>
            </a:r>
          </a:p>
          <a:p>
            <a:pPr latinLnBrk="1"/>
            <a:r>
              <a:rPr lang="en-GB" dirty="0"/>
              <a:t>    → Use weighted geometric mean: (p₁^w₁ × p₂^w₂ × p₃^w₃)^(1/</a:t>
            </a:r>
            <a:r>
              <a:rPr lang="el-GR" dirty="0"/>
              <a:t>Σ</a:t>
            </a:r>
            <a:r>
              <a:rPr lang="en-GB" dirty="0"/>
              <a:t>w)</a:t>
            </a:r>
          </a:p>
          <a:p>
            <a:pPr latinLnBrk="1"/>
            <a:r>
              <a:rPr lang="en-GB" dirty="0"/>
              <a:t>    → Pick final k items (e.g., 5 movies)</a:t>
            </a:r>
          </a:p>
          <a:p>
            <a:pPr latinLnBrk="1"/>
            <a:r>
              <a:rPr lang="en-GB" dirty="0"/>
              <a:t>    → Naturally prefers balanced items</a:t>
            </a:r>
          </a:p>
          <a:p>
            <a:pPr latinLnBrk="1"/>
            <a:r>
              <a:rPr lang="en-GB" b="1" dirty="0"/>
              <a:t>  Step 4: Update Satisfaction</a:t>
            </a:r>
          </a:p>
          <a:p>
            <a:pPr latinLnBrk="1"/>
            <a:r>
              <a:rPr lang="en-GB" dirty="0"/>
              <a:t>    → Users watch recommended movies</a:t>
            </a:r>
          </a:p>
          <a:p>
            <a:pPr latinLnBrk="1"/>
            <a:r>
              <a:rPr lang="en-GB" dirty="0"/>
              <a:t>    → Update cumulative satisfaction for next </a:t>
            </a:r>
            <a:r>
              <a:rPr lang="en-GB" dirty="0" err="1"/>
              <a:t>round.System</a:t>
            </a:r>
            <a:r>
              <a:rPr lang="en-GB" dirty="0"/>
              <a:t> self-corrects over time</a:t>
            </a:r>
            <a:endParaRPr lang="en-FI" dirty="0"/>
          </a:p>
        </p:txBody>
      </p:sp>
    </p:spTree>
    <p:extLst>
      <p:ext uri="{BB962C8B-B14F-4D97-AF65-F5344CB8AC3E}">
        <p14:creationId xmlns:p14="http://schemas.microsoft.com/office/powerpoint/2010/main" val="107237550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742FF5-34A3-EB5F-53FB-B9157818AF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F735C34-0C57-8BC1-BD0B-FB9ED402F6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75" y="164139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B882D87-40EE-85D3-F25A-3EEF91E64F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88057" y="441024"/>
            <a:ext cx="4817718" cy="1068314"/>
          </a:xfrm>
        </p:spPr>
        <p:txBody>
          <a:bodyPr>
            <a:normAutofit fontScale="90000"/>
          </a:bodyPr>
          <a:lstStyle/>
          <a:p>
            <a:r>
              <a:rPr lang="en-GB" sz="3600" b="1" dirty="0"/>
              <a:t>Comparison results:</a:t>
            </a:r>
            <a:br>
              <a:rPr lang="en-GB" sz="3600" b="1" dirty="0"/>
            </a:br>
            <a:r>
              <a:rPr lang="en-GB" sz="2200" b="1" dirty="0">
                <a:solidFill>
                  <a:srgbClr val="00B0F0"/>
                </a:solidFill>
              </a:rPr>
              <a:t>Test Group users: [4, 39, 404] - 10 Rounds</a:t>
            </a:r>
            <a:br>
              <a:rPr lang="en-GB" sz="3600" b="1" dirty="0"/>
            </a:br>
            <a:endParaRPr lang="en-GB" sz="3600" b="1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CD181DE-3658-4FB5-5E80-64D5E3D9DB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775" y="164139"/>
            <a:ext cx="6475125" cy="6529721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72568574-65AC-7477-BFA1-CBF4375A032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09894" y="2702862"/>
            <a:ext cx="5341112" cy="3990998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0DB93159-8DF4-7625-D45F-2BCB23BC3555}"/>
              </a:ext>
            </a:extLst>
          </p:cNvPr>
          <p:cNvSpPr txBox="1"/>
          <p:nvPr/>
        </p:nvSpPr>
        <p:spPr>
          <a:xfrm>
            <a:off x="8294537" y="1133202"/>
            <a:ext cx="2404762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400" dirty="0"/>
              <a:t>Average </a:t>
            </a:r>
            <a:br>
              <a:rPr lang="en-GB" sz="2400" dirty="0"/>
            </a:br>
            <a:r>
              <a:rPr lang="en-GB" sz="2400" dirty="0"/>
              <a:t>Least Misery  </a:t>
            </a:r>
            <a:br>
              <a:rPr lang="en-GB" sz="2400" dirty="0"/>
            </a:br>
            <a:r>
              <a:rPr lang="en-GB" sz="2400" dirty="0"/>
              <a:t>SDAA</a:t>
            </a:r>
            <a:br>
              <a:rPr lang="en-GB" sz="2400" dirty="0"/>
            </a:br>
            <a:r>
              <a:rPr lang="en-GB" sz="2400" dirty="0"/>
              <a:t> </a:t>
            </a:r>
            <a:r>
              <a:rPr lang="en-GB" sz="2400" dirty="0">
                <a:solidFill>
                  <a:srgbClr val="FF0000"/>
                </a:solidFill>
              </a:rPr>
              <a:t>PFA (best result)</a:t>
            </a:r>
            <a:endParaRPr lang="en-FI" sz="24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4706681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C8F2F516-BFCB-F013-AD50-183A97A273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16AF06F-79AC-466E-33D7-87A9B86C03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0746"/>
            <a:ext cx="10515600" cy="1325563"/>
          </a:xfrm>
        </p:spPr>
        <p:txBody>
          <a:bodyPr>
            <a:normAutofit/>
          </a:bodyPr>
          <a:lstStyle/>
          <a:p>
            <a:r>
              <a:rPr lang="en-GB" sz="3600" b="1" dirty="0"/>
              <a:t>PFA Results</a:t>
            </a:r>
            <a:r>
              <a:rPr lang="zh-CN" altLang="en-US" sz="3600" b="1" dirty="0"/>
              <a:t> </a:t>
            </a:r>
            <a:r>
              <a:rPr lang="en-US" altLang="zh-CN" sz="3600" b="1" dirty="0"/>
              <a:t>1</a:t>
            </a:r>
            <a:r>
              <a:rPr lang="en-GB" sz="3600" b="1" dirty="0"/>
              <a:t> - Single Group Test _ Visualization</a:t>
            </a:r>
            <a:br>
              <a:rPr lang="en-GB" sz="3200" b="1" dirty="0"/>
            </a:br>
            <a:r>
              <a:rPr lang="en-GB" sz="2400" b="1" dirty="0">
                <a:solidFill>
                  <a:srgbClr val="00B0F0"/>
                </a:solidFill>
              </a:rPr>
              <a:t>Test Group users: [4, 39, 404] - 10 Rounds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FCB91F1-A996-5FD5-5BB2-7158BD85E2A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1995" y="3133286"/>
            <a:ext cx="9791484" cy="3613763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ADB2BE05-1A6E-3D1B-9318-95E2619FF31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68819" y="1352073"/>
            <a:ext cx="4894932" cy="16702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006473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A10548-44C0-299B-4BE5-F6914511AA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560DEB93-E5B5-C1ED-717B-66E5AC2859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B8BFEA7-A527-270F-80A5-C23BC7977F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5726" y="184666"/>
            <a:ext cx="10515600" cy="1325563"/>
          </a:xfrm>
        </p:spPr>
        <p:txBody>
          <a:bodyPr>
            <a:normAutofit/>
          </a:bodyPr>
          <a:lstStyle/>
          <a:p>
            <a:r>
              <a:rPr lang="en-GB" sz="3600" b="1" dirty="0"/>
              <a:t>PFA Results </a:t>
            </a:r>
            <a:r>
              <a:rPr lang="en-US" altLang="zh-CN" sz="3600" b="1" dirty="0"/>
              <a:t>2</a:t>
            </a:r>
            <a:r>
              <a:rPr lang="zh-CN" altLang="en-US" sz="3600" b="1" dirty="0"/>
              <a:t> </a:t>
            </a:r>
            <a:r>
              <a:rPr lang="en-GB" sz="3600" b="1" dirty="0"/>
              <a:t>- Multi-Group Validation</a:t>
            </a:r>
            <a:br>
              <a:rPr lang="en-GB" sz="3200" b="1" dirty="0"/>
            </a:br>
            <a:r>
              <a:rPr lang="en-GB" sz="2400" b="1" dirty="0">
                <a:solidFill>
                  <a:srgbClr val="00B0F0"/>
                </a:solidFill>
              </a:rPr>
              <a:t>Testing Across Diverse </a:t>
            </a:r>
            <a:r>
              <a:rPr lang="en-US" altLang="zh-CN" sz="2400" b="1" dirty="0">
                <a:solidFill>
                  <a:srgbClr val="00B0F0"/>
                </a:solidFill>
              </a:rPr>
              <a:t>10</a:t>
            </a:r>
            <a:r>
              <a:rPr lang="zh-CN" altLang="en-US" sz="2400" b="1" dirty="0">
                <a:solidFill>
                  <a:srgbClr val="00B0F0"/>
                </a:solidFill>
              </a:rPr>
              <a:t> </a:t>
            </a:r>
            <a:r>
              <a:rPr lang="en-GB" sz="2400" b="1" dirty="0">
                <a:solidFill>
                  <a:srgbClr val="00B0F0"/>
                </a:solidFill>
              </a:rPr>
              <a:t>Groups – </a:t>
            </a:r>
            <a:r>
              <a:rPr lang="en-US" altLang="zh-CN" sz="2400" b="1" dirty="0">
                <a:solidFill>
                  <a:srgbClr val="00B0F0"/>
                </a:solidFill>
              </a:rPr>
              <a:t>also</a:t>
            </a:r>
            <a:r>
              <a:rPr lang="zh-CN" altLang="en-US" sz="2400" b="1" dirty="0">
                <a:solidFill>
                  <a:srgbClr val="00B0F0"/>
                </a:solidFill>
              </a:rPr>
              <a:t> </a:t>
            </a:r>
            <a:r>
              <a:rPr lang="en-GB" sz="2400" b="1" dirty="0">
                <a:solidFill>
                  <a:srgbClr val="00B0F0"/>
                </a:solidFill>
              </a:rPr>
              <a:t>10 Rounds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EEA0D4A-4188-F4E8-AF19-93EB767CB0D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493" y="1510229"/>
            <a:ext cx="6207395" cy="4639213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2608C78-DE20-F738-7E46-873CB417BF1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32040" y="1510228"/>
            <a:ext cx="5533519" cy="4639213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67CFA739-449A-99C9-07C8-FF8F31AC5386}"/>
              </a:ext>
            </a:extLst>
          </p:cNvPr>
          <p:cNvSpPr txBox="1"/>
          <p:nvPr/>
        </p:nvSpPr>
        <p:spPr>
          <a:xfrm>
            <a:off x="141493" y="6149441"/>
            <a:ext cx="110428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Robust performance: PFA outperforms baseline in 6 out of 10 diverse groups with +0.6% average improvement</a:t>
            </a:r>
            <a:endParaRPr lang="en-FI" dirty="0"/>
          </a:p>
        </p:txBody>
      </p:sp>
    </p:spTree>
    <p:extLst>
      <p:ext uri="{BB962C8B-B14F-4D97-AF65-F5344CB8AC3E}">
        <p14:creationId xmlns:p14="http://schemas.microsoft.com/office/powerpoint/2010/main" val="140484742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3F247F-4BDC-2428-D862-31654398D1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5A9145BC-B7B9-6861-A8BE-C84A8ADA99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6FB6388-263C-7C4B-5F15-E925999683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5726" y="224477"/>
            <a:ext cx="10515600" cy="1325563"/>
          </a:xfrm>
        </p:spPr>
        <p:txBody>
          <a:bodyPr>
            <a:normAutofit/>
          </a:bodyPr>
          <a:lstStyle/>
          <a:p>
            <a:r>
              <a:rPr lang="en-GB" sz="4000" b="1" dirty="0"/>
              <a:t>Why It Works &amp; Conclusion</a:t>
            </a:r>
            <a:endParaRPr lang="en-GB" sz="2800" b="1" dirty="0">
              <a:solidFill>
                <a:srgbClr val="00B0F0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579B611-8F24-8B6B-8CB2-01FA4FB1FA28}"/>
              </a:ext>
            </a:extLst>
          </p:cNvPr>
          <p:cNvSpPr txBox="1"/>
          <p:nvPr/>
        </p:nvSpPr>
        <p:spPr>
          <a:xfrm>
            <a:off x="795726" y="1550040"/>
            <a:ext cx="10415614" cy="50167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dirty="0"/>
              <a:t>1. Mathematical Innovation</a:t>
            </a:r>
          </a:p>
          <a:p>
            <a:r>
              <a:rPr lang="en-GB" sz="2000" dirty="0"/>
              <a:t>   • SDAA uses arithmetic mean (addition) → averages hide problems</a:t>
            </a:r>
          </a:p>
          <a:p>
            <a:r>
              <a:rPr lang="en-GB" sz="2000" dirty="0"/>
              <a:t>   • PFA uses geometric mean (multiplication) → naturally detects imbalance</a:t>
            </a:r>
          </a:p>
          <a:p>
            <a:endParaRPr lang="en-GB" sz="2000" dirty="0"/>
          </a:p>
          <a:p>
            <a:r>
              <a:rPr lang="en-GB" sz="2000" dirty="0"/>
              <a:t>2. Sequential Intelligence</a:t>
            </a:r>
          </a:p>
          <a:p>
            <a:r>
              <a:rPr lang="en-GB" sz="2000" dirty="0"/>
              <a:t>   • SDAA: Fixed alpha parameter throughout all rounds</a:t>
            </a:r>
          </a:p>
          <a:p>
            <a:r>
              <a:rPr lang="en-GB" sz="2000" dirty="0"/>
              <a:t>   • PFA: Dynamic gap-based weights that adapt each round</a:t>
            </a:r>
          </a:p>
          <a:p>
            <a:r>
              <a:rPr lang="en-GB" sz="2000" dirty="0"/>
              <a:t>   • Unhappy users automatically get higher influence next round</a:t>
            </a:r>
          </a:p>
          <a:p>
            <a:r>
              <a:rPr lang="en-GB" sz="2000" dirty="0"/>
              <a:t>   • System self-corrects → prevents cumulative unfairness</a:t>
            </a:r>
          </a:p>
          <a:p>
            <a:endParaRPr lang="en-GB" sz="2000" dirty="0"/>
          </a:p>
          <a:p>
            <a:r>
              <a:rPr lang="en-GB" sz="2000" dirty="0"/>
              <a:t>3. Quality-First Architecture</a:t>
            </a:r>
          </a:p>
          <a:p>
            <a:r>
              <a:rPr lang="en-GB" sz="2000" dirty="0"/>
              <a:t>   • SDAA: Direct aggregation may sacrifice quality for fairness</a:t>
            </a:r>
          </a:p>
          <a:p>
            <a:r>
              <a:rPr lang="en-GB" sz="2000" dirty="0"/>
              <a:t>   • PFA: Two-phase design ensures both objectives</a:t>
            </a:r>
          </a:p>
          <a:p>
            <a:r>
              <a:rPr lang="en-GB" sz="2000" dirty="0"/>
              <a:t>     - Phase 1 filters high-quality candidates</a:t>
            </a:r>
          </a:p>
          <a:p>
            <a:r>
              <a:rPr lang="en-GB" sz="2000" dirty="0"/>
              <a:t>     - Phase 2 selects fairest from quality pool</a:t>
            </a:r>
          </a:p>
          <a:p>
            <a:r>
              <a:rPr lang="en-GB" sz="2000" dirty="0"/>
              <a:t>   • Result: Best reward AND better fairness</a:t>
            </a:r>
          </a:p>
        </p:txBody>
      </p:sp>
    </p:spTree>
    <p:extLst>
      <p:ext uri="{BB962C8B-B14F-4D97-AF65-F5344CB8AC3E}">
        <p14:creationId xmlns:p14="http://schemas.microsoft.com/office/powerpoint/2010/main" val="343462277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2822</TotalTime>
  <Words>696</Words>
  <Application>Microsoft Macintosh PowerPoint</Application>
  <PresentationFormat>Widescreen</PresentationFormat>
  <Paragraphs>69</Paragraphs>
  <Slides>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Aptos</vt:lpstr>
      <vt:lpstr>Aptos Display</vt:lpstr>
      <vt:lpstr>Arial</vt:lpstr>
      <vt:lpstr>Office Theme</vt:lpstr>
      <vt:lpstr>Sequential Group Recommendation</vt:lpstr>
      <vt:lpstr>PFA Theory Proportional Fairness Aggregation (PFA)</vt:lpstr>
      <vt:lpstr>PFA Implementation : Sequential Workflow Proportional Fairness Aggregation (PFA)</vt:lpstr>
      <vt:lpstr>Comparison results: Test Group users: [4, 39, 404] - 10 Rounds </vt:lpstr>
      <vt:lpstr>PFA Results 1 - Single Group Test _ Visualization Test Group users: [4, 39, 404] - 10 Rounds</vt:lpstr>
      <vt:lpstr>PFA Results 2 - Multi-Group Validation Testing Across Diverse 10 Groups – also 10 Rounds</vt:lpstr>
      <vt:lpstr>Why It Works &amp; Conclusion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Xiaosi Huang</dc:creator>
  <cp:lastModifiedBy>Xiaosi Huang</cp:lastModifiedBy>
  <cp:revision>14</cp:revision>
  <dcterms:created xsi:type="dcterms:W3CDTF">2025-11-04T08:51:58Z</dcterms:created>
  <dcterms:modified xsi:type="dcterms:W3CDTF">2025-12-05T17:32:55Z</dcterms:modified>
</cp:coreProperties>
</file>