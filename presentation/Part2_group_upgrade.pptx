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73" r:id="rId3"/>
    <p:sldId id="277" r:id="rId4"/>
    <p:sldId id="269" r:id="rId5"/>
    <p:sldId id="261" r:id="rId6"/>
    <p:sldId id="275" r:id="rId7"/>
    <p:sldId id="276" r:id="rId8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07"/>
    <p:restoredTop sz="94650"/>
  </p:normalViewPr>
  <p:slideViewPr>
    <p:cSldViewPr snapToGrid="0">
      <p:cViewPr varScale="1">
        <p:scale>
          <a:sx n="116" d="100"/>
          <a:sy n="116" d="100"/>
        </p:scale>
        <p:origin x="20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AA1530-BBF0-F94D-A458-1B9B062BF84B}" type="datetimeFigureOut">
              <a:rPr lang="en-FI" smtClean="0"/>
              <a:t>5.12.2025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6FA6B-2CB6-414F-9C23-CA78BF04C56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964618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6FA6B-2CB6-414F-9C23-CA78BF04C563}" type="slidenum">
              <a:rPr lang="en-FI" smtClean="0"/>
              <a:t>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23314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83151-7DD6-5C9E-729A-1C1E0BFF5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96F3E3-9B7B-46EC-7A81-E162F69CA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0B239-5CF2-7E8C-1009-736A933E3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5.12.2025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E6177-1556-C573-9B6A-014F704E8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3E6EC-6A1C-8A61-9094-497C308EA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6141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D9DA5-2A7E-2337-3DF3-BE7345DDF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439C7-685F-2BBB-5F0B-32AC67B88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38AF33-F6AE-CDC3-3844-B2AECF7C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5.12.2025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DF6A7-E63A-308C-D0E3-154F2EC28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63C74-7E67-4974-6804-8060BA36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6078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EA0BB-23D3-7AA2-9AFB-1AF154FEB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476CA-4BFB-0721-5283-11C558204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3E7A9-1ABA-D2FF-FBFA-6F983E60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5.12.2025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B8A1A-466A-82FF-EB4A-847501201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EF1DF-2806-481F-6CE5-1CAE9FD51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9144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DCFCD-0FBD-C3AE-4D19-16AE39203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D1DD4-B3A2-1719-6407-79D9E90B2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86BA4-EB5B-851C-F5FF-89DB08ABE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A2C7E-3711-EEED-A59A-EE54AA79C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5.12.2025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4867A-2DAA-543B-1782-6C1CCD8C5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D8CF6-D06F-047F-E694-72A026C6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33401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C3FBC-0B0C-1265-C49F-21D6604E2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2C91B-F71C-C686-0C11-A0FD40537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1CB0D5-0166-3625-2010-EBFA4DFA7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E1A29-B398-3A6E-24EF-512AE53D7A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CC4B45-5F75-59A0-5D5B-F0048A999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8F5FFB-D8C1-4792-F524-86AECC77C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5.12.2025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544798-C844-5D44-5E48-306C190F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D763AC-163C-DCA0-602D-8EA404442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90984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887B-60B6-9862-71EA-3A97B5964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8DDB5A-7E10-7A3F-BB1E-0510D15D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5.12.2025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850EFD-C447-FF32-6C9C-8DC5B06C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086C1-8B2C-868A-5E4D-79744E666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56764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4FCB75-EC9C-76E7-D93A-AA5B4D98E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5.12.2025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58BBD-D243-6A0C-1C1E-4C321819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85FAC-61EF-2DCA-C326-49DA7D2FD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309827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342D1-84FE-40F7-C0A8-5CA2580E1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655A3-4CAC-2DF6-12A1-DA550C93B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DB2DE7-A623-6385-DA52-D253DEDB8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27D5D-097A-0DCE-2EA0-0FF87DFAB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5.12.2025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E7142-B2A6-7C51-064C-D211F483C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E4260-E9C6-0BBF-2C6F-73C718BD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28892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91B61-1E4D-F745-9647-85E4283C0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9975E0-321A-7FFC-1DE9-6549B70193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D5E3C9-FF72-E28D-30B5-734FA09EA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EA571-27B8-0962-A546-C8FCECBF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5.12.2025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CD74E-C480-14AA-622B-35AE33B01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CAC5C-19AE-6843-6A87-9FFE5400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37851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2A60A-3255-CE29-7CB3-4C01DEA18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D1556-CC33-06CD-0633-2174E519DD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3E461-8C7F-5336-7FD6-C464D642F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5.12.2025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193F7-A2E3-0002-3DD3-23C3B6C92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402E3-51E2-7DEE-4128-E2D6D1C55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75181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3C67C0-7ED7-3726-525E-16894C859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164C7A-5547-42B2-A6EC-02BDDCA3B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F71F6-B358-0537-EB6F-FE36CA13D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18288-B85B-2D44-B86D-F3A0FAFA3DFF}" type="datetimeFigureOut">
              <a:rPr lang="en-FI" smtClean="0"/>
              <a:t>5.12.2025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99216-DAAF-62E7-43BC-7303F2BED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11D33-C073-1FB6-C0D4-AAC71F2A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333236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9BB8D7-8003-1964-3E7C-09FFB970D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73B9C-3C4F-96E1-A3F2-6ACEA2CFA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E2C3E-3FE3-B4C0-955A-DE6FC017C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18288-B85B-2D44-B86D-F3A0FAFA3DFF}" type="datetimeFigureOut">
              <a:rPr lang="en-FI" smtClean="0"/>
              <a:t>5.12.2025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2C053-EB03-52B6-DC93-4B2BFE02C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85778-437F-4CCD-C912-15F48354E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5C61A3-E0C5-9F47-BC7F-F745DADAC85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59242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648FE0F-221E-AE63-C1BA-CB695A67A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FAC650-DDE8-B0D7-77F5-AAC72A537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956" y="448371"/>
            <a:ext cx="10908088" cy="1001712"/>
          </a:xfrm>
        </p:spPr>
        <p:txBody>
          <a:bodyPr>
            <a:normAutofit/>
          </a:bodyPr>
          <a:lstStyle/>
          <a:p>
            <a:pPr algn="l"/>
            <a:r>
              <a:rPr lang="en-GB" sz="4400" b="1" dirty="0"/>
              <a:t>Sequential Group Recommendation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9F74C2-4B12-E370-7C2F-725D3A2CA6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956" y="3578863"/>
            <a:ext cx="7481452" cy="1150356"/>
          </a:xfrm>
        </p:spPr>
        <p:txBody>
          <a:bodyPr>
            <a:normAutofit lnSpcReduction="10000"/>
          </a:bodyPr>
          <a:lstStyle/>
          <a:p>
            <a:pPr marL="342900" indent="-342900" algn="l">
              <a:buFontTx/>
              <a:buChar char="-"/>
            </a:pPr>
            <a:r>
              <a:rPr lang="en-GB" sz="2000" dirty="0"/>
              <a:t>Students: Oskari </a:t>
            </a:r>
            <a:r>
              <a:rPr lang="en-GB" sz="2000" dirty="0" err="1"/>
              <a:t>Perikangas</a:t>
            </a:r>
            <a:r>
              <a:rPr lang="en-US" sz="2000" dirty="0"/>
              <a:t>,</a:t>
            </a:r>
            <a:r>
              <a:rPr lang="en-GB" sz="2000" dirty="0"/>
              <a:t> Xiaosi Huang</a:t>
            </a:r>
          </a:p>
          <a:p>
            <a:pPr marL="342900" indent="-342900" algn="l">
              <a:buFontTx/>
              <a:buChar char="-"/>
            </a:pPr>
            <a:r>
              <a:rPr lang="en-GB" sz="2000" dirty="0"/>
              <a:t>Course: DATA.ML.360-2025-2026-1 Recommender Systems</a:t>
            </a:r>
          </a:p>
          <a:p>
            <a:pPr marL="342900" indent="-342900" algn="l">
              <a:buFontTx/>
              <a:buChar char="-"/>
            </a:pPr>
            <a:r>
              <a:rPr lang="en-GB" sz="2000" dirty="0"/>
              <a:t>Date: December 5th, 2025 </a:t>
            </a:r>
            <a:endParaRPr lang="en-FI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44213C-E423-4691-0541-A6F51D587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566" y="2612467"/>
            <a:ext cx="3284453" cy="30831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9EBB0B-067B-107C-113E-E5BB20EC345F}"/>
              </a:ext>
            </a:extLst>
          </p:cNvPr>
          <p:cNvSpPr txBox="1"/>
          <p:nvPr/>
        </p:nvSpPr>
        <p:spPr>
          <a:xfrm>
            <a:off x="641956" y="1563817"/>
            <a:ext cx="7845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00B0F0"/>
                </a:solidFill>
              </a:rPr>
              <a:t>PFA: Proportional Fairness Aggregation (NEW METHOD)</a:t>
            </a:r>
          </a:p>
        </p:txBody>
      </p:sp>
    </p:spTree>
    <p:extLst>
      <p:ext uri="{BB962C8B-B14F-4D97-AF65-F5344CB8AC3E}">
        <p14:creationId xmlns:p14="http://schemas.microsoft.com/office/powerpoint/2010/main" val="1831533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70F5C-44C4-7AD5-B3D4-ED9F99EDA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C1DC88-CB53-B4C2-B329-CE125B5F7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5DB6B4-A916-DFF2-E6ED-72B7C85D0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726" y="177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4000" b="1" dirty="0"/>
              <a:t>PFA Theory</a:t>
            </a:r>
            <a:br>
              <a:rPr lang="en-GB" sz="3600" dirty="0"/>
            </a:br>
            <a:r>
              <a:rPr lang="en-GB" sz="2800" b="1" dirty="0">
                <a:solidFill>
                  <a:srgbClr val="00B0F0"/>
                </a:solidFill>
              </a:rPr>
              <a:t>Proportional Fairness Aggregation (PFA)</a:t>
            </a:r>
            <a:endParaRPr lang="en-GB" sz="3600" b="1" dirty="0">
              <a:solidFill>
                <a:srgbClr val="00B0F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726FA2-3746-99E9-F339-496FB049AD84}"/>
              </a:ext>
            </a:extLst>
          </p:cNvPr>
          <p:cNvSpPr txBox="1"/>
          <p:nvPr/>
        </p:nvSpPr>
        <p:spPr>
          <a:xfrm>
            <a:off x="795726" y="1441619"/>
            <a:ext cx="1150229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GB" b="1" dirty="0"/>
              <a:t>Core Innovation: </a:t>
            </a:r>
            <a:r>
              <a:rPr lang="en-GB" dirty="0"/>
              <a:t>Geometric Mean Aggregation</a:t>
            </a:r>
          </a:p>
          <a:p>
            <a:pPr latinLnBrk="1"/>
            <a:r>
              <a:rPr lang="en-GB" dirty="0"/>
              <a:t>SDAA:  score = (w₁·p₁ + w₂·p₂ + w₃·p₃) / </a:t>
            </a:r>
            <a:r>
              <a:rPr lang="el-GR" dirty="0"/>
              <a:t>Σ</a:t>
            </a:r>
            <a:r>
              <a:rPr lang="en-GB" dirty="0"/>
              <a:t>w  [Arithmetic]</a:t>
            </a:r>
            <a:endParaRPr lang="en-US" dirty="0"/>
          </a:p>
          <a:p>
            <a:pPr latinLnBrk="1"/>
            <a:r>
              <a:rPr lang="zh-CN" altLang="en-US" dirty="0"/>
              <a:t>               </a:t>
            </a:r>
            <a:r>
              <a:rPr lang="en-GB" altLang="zh-CN" dirty="0"/>
              <a:t>aggregate preferences in a way that overlooks individual dissatisfaction.</a:t>
            </a:r>
            <a:endParaRPr lang="en-GB" dirty="0"/>
          </a:p>
          <a:p>
            <a:pPr latinLnBrk="1"/>
            <a:r>
              <a:rPr lang="en-GB" dirty="0"/>
              <a:t>PFA:     score = (p₁^w₁ × p₂^w₂ × p₃^w₃)^(1/</a:t>
            </a:r>
            <a:r>
              <a:rPr lang="el-GR" dirty="0"/>
              <a:t>Σ</a:t>
            </a:r>
            <a:r>
              <a:rPr lang="en-GB" dirty="0"/>
              <a:t>w)  [Geometric]</a:t>
            </a:r>
          </a:p>
          <a:p>
            <a:pPr latinLnBrk="1"/>
            <a:r>
              <a:rPr lang="zh-CN" altLang="en-US" dirty="0"/>
              <a:t>              </a:t>
            </a:r>
            <a:r>
              <a:rPr lang="en-GB" altLang="zh-CN" dirty="0"/>
              <a:t> more sensitive to low values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GB" altLang="zh-CN" dirty="0"/>
              <a:t>reveal and address unfairness across group members.</a:t>
            </a:r>
            <a:endParaRPr lang="en-GB" dirty="0"/>
          </a:p>
          <a:p>
            <a:pPr latinLnBrk="1"/>
            <a:endParaRPr lang="en-GB" dirty="0"/>
          </a:p>
          <a:p>
            <a:pPr latinLnBrk="1"/>
            <a:r>
              <a:rPr lang="en-GB" b="1" dirty="0"/>
              <a:t>Why Geometric Mean?</a:t>
            </a:r>
          </a:p>
          <a:p>
            <a:pPr latinLnBrk="1"/>
            <a:r>
              <a:rPr lang="en-GB" dirty="0"/>
              <a:t>- Automatically penalizes imbalanced predictions</a:t>
            </a:r>
          </a:p>
          <a:p>
            <a:pPr latinLnBrk="1"/>
            <a:r>
              <a:rPr lang="en-GB" dirty="0"/>
              <a:t>- Example: predictions [2.0, 5.0, 4.0]</a:t>
            </a:r>
          </a:p>
          <a:p>
            <a:pPr latinLnBrk="1"/>
            <a:r>
              <a:rPr lang="en-GB" dirty="0"/>
              <a:t>  - Arithmetic: 3.67 (hides imbalance)</a:t>
            </a:r>
          </a:p>
          <a:p>
            <a:pPr latinLnBrk="1"/>
            <a:r>
              <a:rPr lang="en-GB" dirty="0"/>
              <a:t>  - Geometric: 3.42 (lower score reflects unfairness)</a:t>
            </a:r>
          </a:p>
          <a:p>
            <a:pPr latinLnBrk="1"/>
            <a:endParaRPr lang="en-GB" dirty="0"/>
          </a:p>
          <a:p>
            <a:pPr latinLnBrk="1"/>
            <a:r>
              <a:rPr lang="en-GB" b="1" dirty="0"/>
              <a:t>Two-Phase Design:</a:t>
            </a:r>
          </a:p>
          <a:p>
            <a:pPr latinLnBrk="1"/>
            <a:r>
              <a:rPr lang="en-GB" dirty="0"/>
              <a:t>1. Phase 1: Average aggregation filters top candidates (quality)</a:t>
            </a:r>
          </a:p>
          <a:p>
            <a:pPr latinLnBrk="1"/>
            <a:r>
              <a:rPr lang="en-GB" dirty="0"/>
              <a:t>2. Phase 2: Geometric mean selects final items (fairness)</a:t>
            </a:r>
          </a:p>
          <a:p>
            <a:pPr latinLnBrk="1"/>
            <a:endParaRPr lang="en-GB" dirty="0"/>
          </a:p>
          <a:p>
            <a:pPr latinLnBrk="1"/>
            <a:r>
              <a:rPr lang="en-GB" b="1" dirty="0"/>
              <a:t>Dynamic Weights:</a:t>
            </a:r>
          </a:p>
          <a:p>
            <a:pPr latinLnBrk="1"/>
            <a:r>
              <a:rPr lang="en-GB" dirty="0"/>
              <a:t>Gap-based adjustment: users below average get higher weights</a:t>
            </a:r>
          </a:p>
          <a:p>
            <a:pPr latinLnBrk="1"/>
            <a:r>
              <a:rPr lang="en-GB" dirty="0"/>
              <a:t>Self-correcting over rounds</a:t>
            </a:r>
            <a:r>
              <a:rPr lang="zh-CN" altLang="en-US" dirty="0"/>
              <a:t> </a:t>
            </a:r>
            <a:r>
              <a:rPr lang="en-GB" dirty="0"/>
              <a:t>: prevents cumulative unfairness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779836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63BDA-F94E-1303-4229-16E648BE1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19476D-272B-38A3-8E2B-5F4EF51E3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14DDB6-3303-68B8-89E7-3160D8ED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726" y="0"/>
            <a:ext cx="10515600" cy="1325563"/>
          </a:xfrm>
        </p:spPr>
        <p:txBody>
          <a:bodyPr>
            <a:normAutofit/>
          </a:bodyPr>
          <a:lstStyle/>
          <a:p>
            <a:r>
              <a:rPr lang="en-GB" sz="3600" b="1" dirty="0"/>
              <a:t>PFA Implementation : Sequential Workflow</a:t>
            </a:r>
            <a:br>
              <a:rPr lang="en-GB" sz="3600" dirty="0"/>
            </a:br>
            <a:r>
              <a:rPr lang="en-GB" sz="2800" b="1" dirty="0">
                <a:solidFill>
                  <a:srgbClr val="00B0F0"/>
                </a:solidFill>
              </a:rPr>
              <a:t>Proportional Fairness Aggregation (PFA)</a:t>
            </a:r>
            <a:endParaRPr lang="en-GB" sz="3600" b="1" dirty="0">
              <a:solidFill>
                <a:srgbClr val="00B0F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C4B97C-7F25-F203-C249-E917484B03EB}"/>
              </a:ext>
            </a:extLst>
          </p:cNvPr>
          <p:cNvSpPr txBox="1"/>
          <p:nvPr/>
        </p:nvSpPr>
        <p:spPr>
          <a:xfrm>
            <a:off x="795725" y="1119471"/>
            <a:ext cx="1037585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GB" b="1" dirty="0"/>
              <a:t>Round 1: Initialize</a:t>
            </a:r>
          </a:p>
          <a:p>
            <a:pPr latinLnBrk="1"/>
            <a:r>
              <a:rPr lang="en-GB" dirty="0"/>
              <a:t>  ✓ All users start with equal weights [1.0, 1.0, 1.0]</a:t>
            </a:r>
          </a:p>
          <a:p>
            <a:pPr latinLnBrk="1"/>
            <a:r>
              <a:rPr lang="en-GB" dirty="0"/>
              <a:t>  ✓ Predict ratings for all candidate movies. Recommend top-k items using PFA</a:t>
            </a:r>
          </a:p>
          <a:p>
            <a:pPr latinLnBrk="1"/>
            <a:endParaRPr lang="en-GB" dirty="0"/>
          </a:p>
          <a:p>
            <a:pPr latinLnBrk="1"/>
            <a:r>
              <a:rPr lang="en-GB" b="1" dirty="0"/>
              <a:t>Each Round (2-10): Four-Step Process</a:t>
            </a:r>
          </a:p>
          <a:p>
            <a:pPr latinLnBrk="1"/>
            <a:r>
              <a:rPr lang="en-GB" dirty="0"/>
              <a:t>  </a:t>
            </a:r>
            <a:r>
              <a:rPr lang="en-GB" b="1" dirty="0"/>
              <a:t>Step 1: Calculate Dynamic Weights</a:t>
            </a:r>
          </a:p>
          <a:p>
            <a:pPr latinLnBrk="1"/>
            <a:r>
              <a:rPr lang="en-GB" dirty="0"/>
              <a:t>    → Check each user's cumulative satisfaction</a:t>
            </a:r>
          </a:p>
          <a:p>
            <a:pPr latinLnBrk="1"/>
            <a:r>
              <a:rPr lang="en-GB" dirty="0"/>
              <a:t>    → Users below average → higher weights (e.g., 1.4)</a:t>
            </a:r>
          </a:p>
          <a:p>
            <a:pPr latinLnBrk="1"/>
            <a:r>
              <a:rPr lang="en-GB" dirty="0"/>
              <a:t>    → Users above average → lower weights (e.g., 0.8)</a:t>
            </a:r>
          </a:p>
          <a:p>
            <a:pPr latinLnBrk="1"/>
            <a:r>
              <a:rPr lang="en-GB" dirty="0"/>
              <a:t>    Example: Round 2 weights = [0.43, 0.17, 0.40]. User 39 had highest satisfaction → lowest weight</a:t>
            </a:r>
          </a:p>
          <a:p>
            <a:pPr latinLnBrk="1"/>
            <a:r>
              <a:rPr lang="en-GB" dirty="0"/>
              <a:t>  </a:t>
            </a:r>
            <a:r>
              <a:rPr lang="en-GB" b="1" dirty="0"/>
              <a:t>Step 2: Phase 1 - Quality Filter</a:t>
            </a:r>
          </a:p>
          <a:p>
            <a:pPr latinLnBrk="1"/>
            <a:r>
              <a:rPr lang="en-GB" dirty="0"/>
              <a:t>    → Use simple average: score = (p₁ + p₂ + p₃) / 3</a:t>
            </a:r>
          </a:p>
          <a:p>
            <a:pPr latinLnBrk="1"/>
            <a:r>
              <a:rPr lang="en-GB" dirty="0"/>
              <a:t>    → Select top k×3 candidates (e.g., 15 movies). Ensures we only consider good items</a:t>
            </a:r>
          </a:p>
          <a:p>
            <a:pPr latinLnBrk="1"/>
            <a:r>
              <a:rPr lang="en-GB" dirty="0"/>
              <a:t>  </a:t>
            </a:r>
            <a:r>
              <a:rPr lang="en-GB" b="1" dirty="0"/>
              <a:t>Step 3: Phase 2 - Fairness Optimization</a:t>
            </a:r>
          </a:p>
          <a:p>
            <a:pPr latinLnBrk="1"/>
            <a:r>
              <a:rPr lang="en-GB" dirty="0"/>
              <a:t>    → Use weighted geometric mean: (p₁^w₁ × p₂^w₂ × p₃^w₃)^(1/</a:t>
            </a:r>
            <a:r>
              <a:rPr lang="el-GR" dirty="0"/>
              <a:t>Σ</a:t>
            </a:r>
            <a:r>
              <a:rPr lang="en-GB" dirty="0"/>
              <a:t>w)</a:t>
            </a:r>
          </a:p>
          <a:p>
            <a:pPr latinLnBrk="1"/>
            <a:r>
              <a:rPr lang="en-GB" dirty="0"/>
              <a:t>    → Pick final k items (e.g., 5 movies)</a:t>
            </a:r>
          </a:p>
          <a:p>
            <a:pPr latinLnBrk="1"/>
            <a:r>
              <a:rPr lang="en-GB" dirty="0"/>
              <a:t>    → Naturally prefers balanced items</a:t>
            </a:r>
          </a:p>
          <a:p>
            <a:pPr latinLnBrk="1"/>
            <a:r>
              <a:rPr lang="en-GB" b="1" dirty="0"/>
              <a:t>  Step 4: Update Satisfaction</a:t>
            </a:r>
          </a:p>
          <a:p>
            <a:pPr latinLnBrk="1"/>
            <a:r>
              <a:rPr lang="en-GB" dirty="0"/>
              <a:t>    → Users watch recommended movies</a:t>
            </a:r>
          </a:p>
          <a:p>
            <a:pPr latinLnBrk="1"/>
            <a:r>
              <a:rPr lang="en-GB" dirty="0"/>
              <a:t>    → Update cumulative satisfaction for next </a:t>
            </a:r>
            <a:r>
              <a:rPr lang="en-GB" dirty="0" err="1"/>
              <a:t>round.System</a:t>
            </a:r>
            <a:r>
              <a:rPr lang="en-GB" dirty="0"/>
              <a:t> self-corrects over time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072375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42FF5-34A3-EB5F-53FB-B9157818A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735C34-0C57-8BC1-BD0B-FB9ED402F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882D87-40EE-85D3-F25A-3EEF91E64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057" y="441024"/>
            <a:ext cx="4817718" cy="1068314"/>
          </a:xfrm>
        </p:spPr>
        <p:txBody>
          <a:bodyPr>
            <a:normAutofit fontScale="90000"/>
          </a:bodyPr>
          <a:lstStyle/>
          <a:p>
            <a:r>
              <a:rPr lang="en-GB" sz="3600" b="1" dirty="0"/>
              <a:t>Comparison results:</a:t>
            </a:r>
            <a:br>
              <a:rPr lang="en-GB" sz="3600" b="1" dirty="0"/>
            </a:br>
            <a:r>
              <a:rPr lang="en-GB" sz="2200" b="1" dirty="0">
                <a:solidFill>
                  <a:srgbClr val="00B0F0"/>
                </a:solidFill>
              </a:rPr>
              <a:t>Test Group users: [4, 39, 404] - 10 Rounds</a:t>
            </a:r>
            <a:br>
              <a:rPr lang="en-GB" sz="3600" b="1" dirty="0"/>
            </a:br>
            <a:endParaRPr lang="en-GB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D181DE-3658-4FB5-5E80-64D5E3D9D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75" y="164139"/>
            <a:ext cx="6475125" cy="65297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568574-65AC-7477-BFA1-CBF4375A0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894" y="2702862"/>
            <a:ext cx="5341112" cy="39909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DB93159-8DF4-7625-D45F-2BCB23BC3555}"/>
              </a:ext>
            </a:extLst>
          </p:cNvPr>
          <p:cNvSpPr txBox="1"/>
          <p:nvPr/>
        </p:nvSpPr>
        <p:spPr>
          <a:xfrm>
            <a:off x="8509883" y="1133202"/>
            <a:ext cx="19740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Average </a:t>
            </a:r>
            <a:br>
              <a:rPr lang="en-GB" sz="2400" dirty="0"/>
            </a:br>
            <a:r>
              <a:rPr lang="en-GB" sz="2400" dirty="0"/>
              <a:t>Least Misery  </a:t>
            </a:r>
            <a:br>
              <a:rPr lang="en-GB" sz="2400" dirty="0"/>
            </a:br>
            <a:r>
              <a:rPr lang="en-GB" sz="2400" dirty="0"/>
              <a:t>SDAA</a:t>
            </a:r>
            <a:br>
              <a:rPr lang="en-GB" sz="2400" dirty="0"/>
            </a:br>
            <a:r>
              <a:rPr lang="en-GB" sz="2400" dirty="0"/>
              <a:t> PFA</a:t>
            </a:r>
            <a:endParaRPr lang="en-FI" sz="2400" dirty="0"/>
          </a:p>
        </p:txBody>
      </p:sp>
    </p:spTree>
    <p:extLst>
      <p:ext uri="{BB962C8B-B14F-4D97-AF65-F5344CB8AC3E}">
        <p14:creationId xmlns:p14="http://schemas.microsoft.com/office/powerpoint/2010/main" val="647066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8F2F516-BFCB-F013-AD50-183A97A27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6AF06F-79AC-466E-33D7-87A9B86C0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746"/>
            <a:ext cx="10515600" cy="1325563"/>
          </a:xfrm>
        </p:spPr>
        <p:txBody>
          <a:bodyPr>
            <a:normAutofit/>
          </a:bodyPr>
          <a:lstStyle/>
          <a:p>
            <a:r>
              <a:rPr lang="en-GB" sz="4000" b="1" dirty="0"/>
              <a:t>Results</a:t>
            </a:r>
            <a:r>
              <a:rPr lang="zh-CN" altLang="en-US" sz="4000" b="1" dirty="0"/>
              <a:t> </a:t>
            </a:r>
            <a:r>
              <a:rPr lang="en-US" altLang="zh-CN" sz="4000" b="1" dirty="0"/>
              <a:t>1</a:t>
            </a:r>
            <a:r>
              <a:rPr lang="en-GB" sz="4000" b="1" dirty="0"/>
              <a:t> - Single Group Test _ Visualization</a:t>
            </a:r>
            <a:br>
              <a:rPr lang="en-GB" sz="3600" b="1" dirty="0"/>
            </a:br>
            <a:r>
              <a:rPr lang="en-GB" sz="2800" b="1" dirty="0">
                <a:solidFill>
                  <a:srgbClr val="00B0F0"/>
                </a:solidFill>
              </a:rPr>
              <a:t>Test Group users: [4, 39, 404] - 10 Rounds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CB91F1-A996-5FD5-5BB2-7158BD85E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995" y="3133286"/>
            <a:ext cx="9791484" cy="36137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B2BE05-1A6E-3D1B-9318-95E2619FF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8819" y="1352073"/>
            <a:ext cx="4894932" cy="167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064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10548-44C0-299B-4BE5-F6914511A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0DEB93-E5B5-C1ED-717B-66E5AC285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8BFEA7-A527-270F-80A5-C23BC7977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726" y="184666"/>
            <a:ext cx="10515600" cy="1325563"/>
          </a:xfrm>
        </p:spPr>
        <p:txBody>
          <a:bodyPr>
            <a:normAutofit/>
          </a:bodyPr>
          <a:lstStyle/>
          <a:p>
            <a:r>
              <a:rPr lang="en-GB" sz="4000" b="1" dirty="0"/>
              <a:t>Results </a:t>
            </a:r>
            <a:r>
              <a:rPr lang="en-US" altLang="zh-CN" sz="4000" b="1" dirty="0"/>
              <a:t>2</a:t>
            </a:r>
            <a:r>
              <a:rPr lang="zh-CN" altLang="en-US" sz="4000" b="1" dirty="0"/>
              <a:t> </a:t>
            </a:r>
            <a:r>
              <a:rPr lang="en-GB" sz="4000" b="1" dirty="0"/>
              <a:t>- Multi-Group Validation</a:t>
            </a:r>
            <a:br>
              <a:rPr lang="en-GB" sz="3600" b="1" dirty="0"/>
            </a:br>
            <a:r>
              <a:rPr lang="en-GB" sz="2800" b="1" dirty="0">
                <a:solidFill>
                  <a:srgbClr val="00B0F0"/>
                </a:solidFill>
              </a:rPr>
              <a:t>Testing Across Diverse </a:t>
            </a:r>
            <a:r>
              <a:rPr lang="en-US" altLang="zh-CN" sz="2800" b="1" dirty="0">
                <a:solidFill>
                  <a:srgbClr val="00B0F0"/>
                </a:solidFill>
              </a:rPr>
              <a:t>10</a:t>
            </a:r>
            <a:r>
              <a:rPr lang="zh-CN" altLang="en-US" sz="2800" b="1" dirty="0">
                <a:solidFill>
                  <a:srgbClr val="00B0F0"/>
                </a:solidFill>
              </a:rPr>
              <a:t> </a:t>
            </a:r>
            <a:r>
              <a:rPr lang="en-GB" sz="2800" b="1" dirty="0">
                <a:solidFill>
                  <a:srgbClr val="00B0F0"/>
                </a:solidFill>
              </a:rPr>
              <a:t>Groups – </a:t>
            </a:r>
            <a:r>
              <a:rPr lang="en-US" altLang="zh-CN" sz="2800" b="1" dirty="0">
                <a:solidFill>
                  <a:srgbClr val="00B0F0"/>
                </a:solidFill>
              </a:rPr>
              <a:t>also</a:t>
            </a:r>
            <a:r>
              <a:rPr lang="zh-CN" altLang="en-US" sz="2800" b="1" dirty="0">
                <a:solidFill>
                  <a:srgbClr val="00B0F0"/>
                </a:solidFill>
              </a:rPr>
              <a:t> </a:t>
            </a:r>
            <a:r>
              <a:rPr lang="en-GB" sz="2800" b="1" dirty="0">
                <a:solidFill>
                  <a:srgbClr val="00B0F0"/>
                </a:solidFill>
              </a:rPr>
              <a:t>10 Rounds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EA0D4A-4188-F4E8-AF19-93EB767CB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93" y="1510229"/>
            <a:ext cx="6207395" cy="46392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608C78-DE20-F738-7E46-873CB417B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040" y="1510228"/>
            <a:ext cx="5533519" cy="46392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CFA739-449A-99C9-07C8-FF8F31AC5386}"/>
              </a:ext>
            </a:extLst>
          </p:cNvPr>
          <p:cNvSpPr txBox="1"/>
          <p:nvPr/>
        </p:nvSpPr>
        <p:spPr>
          <a:xfrm>
            <a:off x="141493" y="6149441"/>
            <a:ext cx="1104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Robust performance: PFA outperforms baseline in 6 out of 10 diverse groups with +0.6% average improvement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404847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F247F-4BDC-2428-D862-31654398D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A9145BC-B7B9-6861-A8BE-C84A8ADA9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FB6388-263C-7C4B-5F15-E92599968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726" y="224477"/>
            <a:ext cx="10515600" cy="1325563"/>
          </a:xfrm>
        </p:spPr>
        <p:txBody>
          <a:bodyPr>
            <a:normAutofit/>
          </a:bodyPr>
          <a:lstStyle/>
          <a:p>
            <a:r>
              <a:rPr lang="en-GB" sz="4000" b="1" dirty="0"/>
              <a:t>Why It Works &amp; Conclusion</a:t>
            </a:r>
            <a:endParaRPr lang="en-GB" sz="2800" b="1" dirty="0">
              <a:solidFill>
                <a:srgbClr val="00B0F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79B611-8F24-8B6B-8CB2-01FA4FB1FA28}"/>
              </a:ext>
            </a:extLst>
          </p:cNvPr>
          <p:cNvSpPr txBox="1"/>
          <p:nvPr/>
        </p:nvSpPr>
        <p:spPr>
          <a:xfrm>
            <a:off x="795726" y="1550040"/>
            <a:ext cx="104156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1. Mathematical Innovation</a:t>
            </a:r>
          </a:p>
          <a:p>
            <a:r>
              <a:rPr lang="en-GB" sz="2000" dirty="0"/>
              <a:t>   • SDAA uses arithmetic mean (addition) → averages hide problems</a:t>
            </a:r>
          </a:p>
          <a:p>
            <a:r>
              <a:rPr lang="en-GB" sz="2000" dirty="0"/>
              <a:t>   • PFA uses geometric mean (multiplication) → naturally detects imbalance</a:t>
            </a:r>
          </a:p>
          <a:p>
            <a:endParaRPr lang="en-GB" sz="2000" dirty="0"/>
          </a:p>
          <a:p>
            <a:r>
              <a:rPr lang="en-GB" sz="2000" dirty="0"/>
              <a:t>2. Sequential Intelligence</a:t>
            </a:r>
          </a:p>
          <a:p>
            <a:r>
              <a:rPr lang="en-GB" sz="2000" dirty="0"/>
              <a:t>   • SDAA: Fixed alpha parameter throughout all rounds</a:t>
            </a:r>
          </a:p>
          <a:p>
            <a:r>
              <a:rPr lang="en-GB" sz="2000" dirty="0"/>
              <a:t>   • PFA: Dynamic gap-based weights that adapt each round</a:t>
            </a:r>
          </a:p>
          <a:p>
            <a:r>
              <a:rPr lang="en-GB" sz="2000" dirty="0"/>
              <a:t>   • Unhappy users automatically get higher influence next round</a:t>
            </a:r>
          </a:p>
          <a:p>
            <a:r>
              <a:rPr lang="en-GB" sz="2000" dirty="0"/>
              <a:t>   • System self-corrects → prevents cumulative unfairness</a:t>
            </a:r>
          </a:p>
          <a:p>
            <a:endParaRPr lang="en-GB" sz="2000" dirty="0"/>
          </a:p>
          <a:p>
            <a:r>
              <a:rPr lang="en-GB" sz="2000" dirty="0"/>
              <a:t>3. Quality-First Architecture</a:t>
            </a:r>
          </a:p>
          <a:p>
            <a:r>
              <a:rPr lang="en-GB" sz="2000" dirty="0"/>
              <a:t>   • SDAA: Direct aggregation may sacrifice quality for fairness</a:t>
            </a:r>
          </a:p>
          <a:p>
            <a:r>
              <a:rPr lang="en-GB" sz="2000" dirty="0"/>
              <a:t>   • PFA: Two-phase design ensures both objectives</a:t>
            </a:r>
          </a:p>
          <a:p>
            <a:r>
              <a:rPr lang="en-GB" sz="2000" dirty="0"/>
              <a:t>     - Phase 1 filters high-quality candidates</a:t>
            </a:r>
          </a:p>
          <a:p>
            <a:r>
              <a:rPr lang="en-GB" sz="2000" dirty="0"/>
              <a:t>     - Phase 2 selects fairest from quality pool</a:t>
            </a:r>
          </a:p>
          <a:p>
            <a:r>
              <a:rPr lang="en-GB" sz="2000" dirty="0"/>
              <a:t>   • Result: Best reward AND better fairness</a:t>
            </a:r>
          </a:p>
        </p:txBody>
      </p:sp>
    </p:spTree>
    <p:extLst>
      <p:ext uri="{BB962C8B-B14F-4D97-AF65-F5344CB8AC3E}">
        <p14:creationId xmlns:p14="http://schemas.microsoft.com/office/powerpoint/2010/main" val="3434622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2821</TotalTime>
  <Words>690</Words>
  <Application>Microsoft Macintosh PowerPoint</Application>
  <PresentationFormat>Widescreen</PresentationFormat>
  <Paragraphs>69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Sequential Group Recommendation</vt:lpstr>
      <vt:lpstr>PFA Theory Proportional Fairness Aggregation (PFA)</vt:lpstr>
      <vt:lpstr>PFA Implementation : Sequential Workflow Proportional Fairness Aggregation (PFA)</vt:lpstr>
      <vt:lpstr>Comparison results: Test Group users: [4, 39, 404] - 10 Rounds </vt:lpstr>
      <vt:lpstr>Results 1 - Single Group Test _ Visualization Test Group users: [4, 39, 404] - 10 Rounds</vt:lpstr>
      <vt:lpstr>Results 2 - Multi-Group Validation Testing Across Diverse 10 Groups – also 10 Rounds</vt:lpstr>
      <vt:lpstr>Why It Works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Xiaosi Huang</dc:creator>
  <cp:lastModifiedBy>Xiaosi Huang</cp:lastModifiedBy>
  <cp:revision>13</cp:revision>
  <dcterms:created xsi:type="dcterms:W3CDTF">2025-11-04T08:51:58Z</dcterms:created>
  <dcterms:modified xsi:type="dcterms:W3CDTF">2025-12-05T16:27:31Z</dcterms:modified>
</cp:coreProperties>
</file>